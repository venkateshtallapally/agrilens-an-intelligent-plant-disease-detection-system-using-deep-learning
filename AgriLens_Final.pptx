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png"/><Relationship Id="rId13" Type="http://schemas.openxmlformats.org/officeDocument/2006/relationships/image" Target="../media/image-12-13.png"/><Relationship Id="rId14" Type="http://schemas.openxmlformats.org/officeDocument/2006/relationships/image" Target="../media/image-12-14.png"/><Relationship Id="rId15" Type="http://schemas.openxmlformats.org/officeDocument/2006/relationships/image" Target="../media/image-12-15.png"/><Relationship Id="rId16" Type="http://schemas.openxmlformats.org/officeDocument/2006/relationships/image" Target="../media/image-12-16.png"/><Relationship Id="rId17" Type="http://schemas.openxmlformats.org/officeDocument/2006/relationships/image" Target="../media/image-12-17.png"/><Relationship Id="rId18" Type="http://schemas.openxmlformats.org/officeDocument/2006/relationships/image" Target="../media/image-12-18.png"/><Relationship Id="rId19" Type="http://schemas.openxmlformats.org/officeDocument/2006/relationships/image" Target="../media/image-12-19.png"/><Relationship Id="rId20" Type="http://schemas.openxmlformats.org/officeDocument/2006/relationships/slideLayout" Target="../slideLayouts/slideLayout1.xml"/><Relationship Id="rId21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3152"/>
          </a:xfrm>
          <a:prstGeom prst="rect">
            <a:avLst/>
          </a:prstGeom>
          <a:solidFill>
            <a:srgbClr val="4A8B4A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2C5F2D">
              <a:alpha val="30000"/>
            </a:srgbClr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tretch>
            <a:fillRect/>
          </a:stretch>
        </p:blipFill>
        <p:spPr>
          <a:xfrm>
            <a:off x="5943600" y="365760"/>
            <a:ext cx="2926080" cy="2926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20040" y="16459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97BC62"/>
                </a:solidFill>
              </a:rPr>
              <a:t>DEPARTMENT OF COMPUTER SCIENCE &amp; ENGINEERING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320040" y="59436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AgriLens</a:t>
            </a:r>
            <a:endParaRPr lang="en-US" sz="6400" dirty="0"/>
          </a:p>
        </p:txBody>
      </p:sp>
      <p:sp>
        <p:nvSpPr>
          <p:cNvPr id="8" name="Text 5"/>
          <p:cNvSpPr/>
          <p:nvPr/>
        </p:nvSpPr>
        <p:spPr>
          <a:xfrm>
            <a:off x="320040" y="16002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Intelligent Plant Disease Detection System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Deep Learning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20040" y="2606040"/>
            <a:ext cx="5029200" cy="36576"/>
          </a:xfrm>
          <a:prstGeom prst="rect">
            <a:avLst/>
          </a:prstGeom>
          <a:solidFill>
            <a:srgbClr val="4A8B4A"/>
          </a:solidFill>
          <a:ln/>
        </p:spPr>
      </p:sp>
      <p:sp>
        <p:nvSpPr>
          <p:cNvPr id="10" name="Text 7"/>
          <p:cNvSpPr/>
          <p:nvPr/>
        </p:nvSpPr>
        <p:spPr>
          <a:xfrm>
            <a:off x="320040" y="272491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DBF9E"/>
                </a:solidFill>
              </a:rPr>
              <a:t>BATCH ID: 23MPCS-B14  |  Mini Project Review — 4</a:t>
            </a:r>
            <a:endParaRPr lang="en-US" sz="11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063240"/>
          <a:ext cx="4754880" cy="1280160"/>
        </p:xfrm>
        <a:graphic>
          <a:graphicData uri="http://schemas.openxmlformats.org/drawingml/2006/table">
            <a:tbl>
              <a:tblPr/>
              <a:tblGrid>
                <a:gridCol w="457200"/>
                <a:gridCol w="1645920"/>
                <a:gridCol w="265176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S.No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5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Roll No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5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Student Name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5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5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D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23881A05C4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5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D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T. Venkatesh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5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DD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5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D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23881A05C5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5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D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T. Akshaya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5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DD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5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D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24885A0508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5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D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</a:rPr>
                        <a:t>G. Poorna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A5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5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5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5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DD6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452628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FA88F"/>
                </a:solidFill>
              </a:rPr>
              <a:t>Guide: Mrs. D. Dhana Lakshmi  |  Assistant Professor, Dept. of CSE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9728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Mini Project Review-4  |  Presentation Outlines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411480" cy="384048"/>
          </a:xfrm>
          <a:prstGeom prst="rect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859536"/>
            <a:ext cx="411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58952" y="822960"/>
            <a:ext cx="393192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886968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Main Idea of the Project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481328"/>
            <a:ext cx="411480" cy="384048"/>
          </a:xfrm>
          <a:prstGeom prst="rect">
            <a:avLst/>
          </a:prstGeom>
          <a:solidFill>
            <a:srgbClr val="4A8B4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" y="1517904"/>
            <a:ext cx="411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58952" y="1481328"/>
            <a:ext cx="393192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1545336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Existing System Vs Proposed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139696"/>
            <a:ext cx="411480" cy="384048"/>
          </a:xfrm>
          <a:prstGeom prst="rect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0040" y="2176272"/>
            <a:ext cx="411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58952" y="2139696"/>
            <a:ext cx="393192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2960" y="2203704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Proposed Project Objectives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798064"/>
            <a:ext cx="411480" cy="384048"/>
          </a:xfrm>
          <a:prstGeom prst="rect">
            <a:avLst/>
          </a:prstGeom>
          <a:solidFill>
            <a:srgbClr val="4A8B4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20040" y="2834640"/>
            <a:ext cx="411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58952" y="2798064"/>
            <a:ext cx="393192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22960" y="2862072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Proposed Project Outcomes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3456432"/>
            <a:ext cx="411480" cy="384048"/>
          </a:xfrm>
          <a:prstGeom prst="rect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20040" y="3493008"/>
            <a:ext cx="411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58952" y="3456432"/>
            <a:ext cx="393192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22960" y="3520440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Software and Hardware Requirements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4114800"/>
            <a:ext cx="411480" cy="384048"/>
          </a:xfrm>
          <a:prstGeom prst="rect">
            <a:avLst/>
          </a:prstGeom>
          <a:solidFill>
            <a:srgbClr val="4A8B4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20040" y="4151376"/>
            <a:ext cx="411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58952" y="4114800"/>
            <a:ext cx="393192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22960" y="4178808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Process Model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0" y="822960"/>
            <a:ext cx="411480" cy="384048"/>
          </a:xfrm>
          <a:prstGeom prst="rect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754880" y="859536"/>
            <a:ext cx="411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07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193792" y="822960"/>
            <a:ext cx="393192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257800" y="886968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Design Phase (Architectural + UML + ER Diagrams)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754880" y="1481328"/>
            <a:ext cx="411480" cy="384048"/>
          </a:xfrm>
          <a:prstGeom prst="rect">
            <a:avLst/>
          </a:prstGeom>
          <a:solidFill>
            <a:srgbClr val="4A8B4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754880" y="1517904"/>
            <a:ext cx="411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08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193792" y="1481328"/>
            <a:ext cx="393192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257800" y="1545336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Proposed Methods and Algorithms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754880" y="2139696"/>
            <a:ext cx="411480" cy="384048"/>
          </a:xfrm>
          <a:prstGeom prst="rect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754880" y="2176272"/>
            <a:ext cx="411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09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193792" y="2139696"/>
            <a:ext cx="393192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5257800" y="2203704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Test Cases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754880" y="2798064"/>
            <a:ext cx="411480" cy="384048"/>
          </a:xfrm>
          <a:prstGeom prst="rect">
            <a:avLst/>
          </a:prstGeom>
          <a:solidFill>
            <a:srgbClr val="4A8B4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754880" y="2834640"/>
            <a:ext cx="411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10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193792" y="2798064"/>
            <a:ext cx="393192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5257800" y="2862072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Result Analysis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754880" y="3456432"/>
            <a:ext cx="411480" cy="384048"/>
          </a:xfrm>
          <a:prstGeom prst="rect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4754880" y="3493008"/>
            <a:ext cx="411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11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193792" y="3456432"/>
            <a:ext cx="393192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5257800" y="3520440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Output Screens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754880" y="4114800"/>
            <a:ext cx="411480" cy="384048"/>
          </a:xfrm>
          <a:prstGeom prst="rect">
            <a:avLst/>
          </a:prstGeom>
          <a:solidFill>
            <a:srgbClr val="4A8B4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4754880" y="4151376"/>
            <a:ext cx="411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12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193792" y="4114800"/>
            <a:ext cx="393192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5257800" y="4178808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Conclusion, Future Scope &amp; References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97BC6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9144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09728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Main Idea of the Project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274320" y="822960"/>
            <a:ext cx="27432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274320" y="859536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1B+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365760" y="14173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Farmers Affected by Crop Diseases Worldwide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200400" y="822960"/>
            <a:ext cx="27432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200400" y="859536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30%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3291840" y="14173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Annual Crop Loss due to Plant Diseases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126480" y="822960"/>
            <a:ext cx="2743200" cy="1097280"/>
          </a:xfrm>
          <a:prstGeom prst="rect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126480" y="859536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97%+</a:t>
            </a:r>
            <a:endParaRPr lang="en-US" sz="4000" dirty="0"/>
          </a:p>
        </p:txBody>
      </p:sp>
      <p:sp>
        <p:nvSpPr>
          <p:cNvPr id="14" name="Text 11"/>
          <p:cNvSpPr/>
          <p:nvPr/>
        </p:nvSpPr>
        <p:spPr>
          <a:xfrm>
            <a:off x="6217920" y="14173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ADBF9E"/>
                </a:solidFill>
              </a:rPr>
              <a:t>AgriLens CNN Accuracy on PlantVillage Dataset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274320" y="208483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</a:rPr>
              <a:t>The Challenge</a:t>
            </a:r>
            <a:endParaRPr lang="en-US" sz="13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450592"/>
            <a:ext cx="256032" cy="25603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03504" y="2423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Traditional disease diagnosis relies on manual expert inspection</a:t>
            </a:r>
            <a:endParaRPr lang="en-US" sz="11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03504" y="28986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Time-consuming, error-prone, costly and inaccessible for small-scale farmers</a:t>
            </a:r>
            <a:endParaRPr lang="en-US" sz="11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401568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03504" y="337413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Rural farmers lack timely access to agricultural experts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480560" y="2084832"/>
            <a:ext cx="36576" cy="283464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23" name="Text 17"/>
          <p:cNvSpPr/>
          <p:nvPr/>
        </p:nvSpPr>
        <p:spPr>
          <a:xfrm>
            <a:off x="4663440" y="208483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</a:rPr>
              <a:t>AgriLens Solution</a:t>
            </a:r>
            <a:endParaRPr lang="en-US" sz="130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2450592"/>
            <a:ext cx="256032" cy="25603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4992624" y="2423160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CNN-based automated detection from leaf images — no expert required</a:t>
            </a:r>
            <a:endParaRPr lang="en-US" sz="110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63440" y="2926080"/>
            <a:ext cx="256032" cy="25603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4992624" y="2898648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Disease severity estimation: Mild / Moderate / Severe with treatment guidance</a:t>
            </a:r>
            <a:endParaRPr lang="en-US" sz="1100" dirty="0"/>
          </a:p>
        </p:txBody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63440" y="3401568"/>
            <a:ext cx="256032" cy="256032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992624" y="3374136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Explainable AI (Grad-CAM) highlights infected regions for farmer trust</a:t>
            </a:r>
            <a:endParaRPr lang="en-US" sz="1100" dirty="0"/>
          </a:p>
        </p:txBody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63440" y="3877056"/>
            <a:ext cx="256032" cy="256032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4992624" y="3849624"/>
            <a:ext cx="3886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Scalable deployment on smartphones and IoT devices for field use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972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Existing System vs Proposed System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28600" y="822960"/>
            <a:ext cx="4160520" cy="438912"/>
          </a:xfrm>
          <a:prstGeom prst="rect">
            <a:avLst/>
          </a:prstGeom>
          <a:solidFill>
            <a:srgbClr val="C0392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859536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EXISTING SYSTEM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8600" y="1353312"/>
            <a:ext cx="4160520" cy="521208"/>
          </a:xfrm>
          <a:prstGeom prst="rect">
            <a:avLst/>
          </a:prstGeom>
          <a:solidFill>
            <a:srgbClr val="FFF0E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8328" y="1426464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Manual visual inspection by experts — subjective &amp; experience-dependent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28600" y="1920240"/>
            <a:ext cx="416052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8328" y="199339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Time-consuming and error-prone for large-scale farms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8600" y="2487168"/>
            <a:ext cx="4160520" cy="521208"/>
          </a:xfrm>
          <a:prstGeom prst="rect">
            <a:avLst/>
          </a:prstGeom>
          <a:solidFill>
            <a:srgbClr val="FFF0E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8328" y="2560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Inaccessible to rural and small-scale farmers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28600" y="3054096"/>
            <a:ext cx="416052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38328" y="312724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Traditional ML uses hand-crafted features with limited accuracy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28600" y="3621024"/>
            <a:ext cx="4160520" cy="521208"/>
          </a:xfrm>
          <a:prstGeom prst="rect">
            <a:avLst/>
          </a:prstGeom>
          <a:solidFill>
            <a:srgbClr val="FFF0E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38328" y="3694176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No severity estimation or treatment guidance provided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28600" y="4187952"/>
            <a:ext cx="416052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38328" y="4261104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No explainability — farmers can't see WHY a diagnosis was made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822960"/>
            <a:ext cx="4160520" cy="438912"/>
          </a:xfrm>
          <a:prstGeom prst="rect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46320" y="859536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AGRILENS — PROPOSED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54880" y="1353312"/>
            <a:ext cx="4160520" cy="521208"/>
          </a:xfrm>
          <a:prstGeom prst="rect">
            <a:avLst/>
          </a:prstGeom>
          <a:solidFill>
            <a:srgbClr val="EEF6E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64608" y="1426464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CNN-based automated detection from leaf images — no expert required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54880" y="1920240"/>
            <a:ext cx="416052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64608" y="1993392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Real-time analysis: inference &lt;1 second per image on GPU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54880" y="2487168"/>
            <a:ext cx="4160520" cy="521208"/>
          </a:xfrm>
          <a:prstGeom prst="rect">
            <a:avLst/>
          </a:prstGeom>
          <a:solidFill>
            <a:srgbClr val="EEF6E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64608" y="256032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Mobile &amp; IoT deployable — accessible anywhere in the field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54880" y="3054096"/>
            <a:ext cx="416052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864608" y="312724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Higher accuracy via hierarchical feature learning on 54K+ images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54880" y="3621024"/>
            <a:ext cx="4160520" cy="521208"/>
          </a:xfrm>
          <a:prstGeom prst="rect">
            <a:avLst/>
          </a:prstGeom>
          <a:solidFill>
            <a:srgbClr val="EEF6EE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64608" y="3694176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Severity estimation: Mild / Moderate / Severe + treatment recommendations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754880" y="4187952"/>
            <a:ext cx="4160520" cy="5212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864608" y="4261104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Grad-CAM XAI visualizes infected regions — builds farmer trust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206240" y="2560320"/>
            <a:ext cx="731520" cy="731520"/>
          </a:xfrm>
          <a:prstGeom prst="ellipse">
            <a:avLst/>
          </a:prstGeom>
          <a:solidFill>
            <a:srgbClr val="D4A01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206240" y="26517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VS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97BC6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9144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09728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Proposed Project Objectives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274320" y="822960"/>
            <a:ext cx="41605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822960"/>
            <a:ext cx="54864" cy="11887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8" name="Shape 5"/>
          <p:cNvSpPr/>
          <p:nvPr/>
        </p:nvSpPr>
        <p:spPr>
          <a:xfrm>
            <a:off x="365760" y="932688"/>
            <a:ext cx="566928" cy="566928"/>
          </a:xfrm>
          <a:prstGeom prst="rect">
            <a:avLst/>
          </a:prstGeom>
          <a:solidFill>
            <a:srgbClr val="2C5F2D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950976"/>
            <a:ext cx="530352" cy="53035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24128" y="9144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</a:rPr>
              <a:t>Deep Learning System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024128" y="1207008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Develop AgriLens — an intelligent CNN-based system for automated plant disease detection without manual expert intervention.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754880" y="822960"/>
            <a:ext cx="41605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754880" y="822960"/>
            <a:ext cx="54864" cy="11887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4" name="Shape 10"/>
          <p:cNvSpPr/>
          <p:nvPr/>
        </p:nvSpPr>
        <p:spPr>
          <a:xfrm>
            <a:off x="4846320" y="932688"/>
            <a:ext cx="566928" cy="566928"/>
          </a:xfrm>
          <a:prstGeom prst="rect">
            <a:avLst/>
          </a:prstGeom>
          <a:solidFill>
            <a:srgbClr val="2C5F2D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4608" y="950976"/>
            <a:ext cx="530352" cy="53035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504688" y="9144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</a:rPr>
              <a:t>Image Preprocessing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5504688" y="1207008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Preprocess plant leaf images using noise reduction, normalization (224×224px), and background masking for consistent CNN input.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274320" y="2148840"/>
            <a:ext cx="41605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274320" y="2148840"/>
            <a:ext cx="54864" cy="11887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0" name="Shape 15"/>
          <p:cNvSpPr/>
          <p:nvPr/>
        </p:nvSpPr>
        <p:spPr>
          <a:xfrm>
            <a:off x="365760" y="2258568"/>
            <a:ext cx="566928" cy="566928"/>
          </a:xfrm>
          <a:prstGeom prst="rect">
            <a:avLst/>
          </a:prstGeom>
          <a:solidFill>
            <a:srgbClr val="2C5F2D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2276856"/>
            <a:ext cx="530352" cy="53035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24128" y="22402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</a:rPr>
              <a:t>Disease Classification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1024128" y="2532888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Train CNN on 54,306 PlantVillage images to classify 38 disease categories with high accuracy using Adam optimizer.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754880" y="2148840"/>
            <a:ext cx="41605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754880" y="2148840"/>
            <a:ext cx="54864" cy="11887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6" name="Shape 20"/>
          <p:cNvSpPr/>
          <p:nvPr/>
        </p:nvSpPr>
        <p:spPr>
          <a:xfrm>
            <a:off x="4846320" y="2258568"/>
            <a:ext cx="566928" cy="566928"/>
          </a:xfrm>
          <a:prstGeom prst="rect">
            <a:avLst/>
          </a:prstGeom>
          <a:solidFill>
            <a:srgbClr val="2C5F2D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4608" y="2276856"/>
            <a:ext cx="530352" cy="53035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504688" y="22402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</a:rPr>
              <a:t>Severity Estimation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5504688" y="2532888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Implement mild (&lt;20%), moderate (20–50%), and severe (&gt;50%) infection level classification to enable timely crop intervention.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274320" y="3474720"/>
            <a:ext cx="41605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274320" y="3474720"/>
            <a:ext cx="54864" cy="11887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2" name="Shape 25"/>
          <p:cNvSpPr/>
          <p:nvPr/>
        </p:nvSpPr>
        <p:spPr>
          <a:xfrm>
            <a:off x="365760" y="3584448"/>
            <a:ext cx="566928" cy="566928"/>
          </a:xfrm>
          <a:prstGeom prst="rect">
            <a:avLst/>
          </a:prstGeom>
          <a:solidFill>
            <a:srgbClr val="2C5F2D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4048" y="3602736"/>
            <a:ext cx="530352" cy="53035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1024128" y="35661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</a:rPr>
              <a:t>Explainable AI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1024128" y="3858768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Integrate Grad-CAM to generate heatmaps highlighting infected leaf regions — improving model transparency and farmer trust.</a:t>
            </a:r>
            <a:endParaRPr lang="en-US" sz="1000" dirty="0"/>
          </a:p>
        </p:txBody>
      </p:sp>
      <p:sp>
        <p:nvSpPr>
          <p:cNvPr id="36" name="Shape 28"/>
          <p:cNvSpPr/>
          <p:nvPr/>
        </p:nvSpPr>
        <p:spPr>
          <a:xfrm>
            <a:off x="4754880" y="3474720"/>
            <a:ext cx="41605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4754880" y="3474720"/>
            <a:ext cx="54864" cy="118872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8" name="Shape 30"/>
          <p:cNvSpPr/>
          <p:nvPr/>
        </p:nvSpPr>
        <p:spPr>
          <a:xfrm>
            <a:off x="4846320" y="3584448"/>
            <a:ext cx="566928" cy="566928"/>
          </a:xfrm>
          <a:prstGeom prst="rect">
            <a:avLst/>
          </a:prstGeom>
          <a:solidFill>
            <a:srgbClr val="2C5F2D"/>
          </a:solidFill>
          <a:ln/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64608" y="3602736"/>
            <a:ext cx="530352" cy="530352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5504688" y="35661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</a:rPr>
              <a:t>Scalable Deployment</a:t>
            </a:r>
            <a:endParaRPr lang="en-US" sz="1200" dirty="0"/>
          </a:p>
        </p:txBody>
      </p:sp>
      <p:sp>
        <p:nvSpPr>
          <p:cNvPr id="41" name="Text 32"/>
          <p:cNvSpPr/>
          <p:nvPr/>
        </p:nvSpPr>
        <p:spPr>
          <a:xfrm>
            <a:off x="5504688" y="3858768"/>
            <a:ext cx="3291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Design for mobile and IoT-based agricultural platforms, enabling real-time field diagnostics for farmers everywhere.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3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Proposed Project Outcomes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658368"/>
            <a:ext cx="7772400" cy="36576"/>
          </a:xfrm>
          <a:prstGeom prst="rect">
            <a:avLst/>
          </a:prstGeom>
          <a:solidFill>
            <a:srgbClr val="4A8B4A"/>
          </a:solidFill>
          <a:ln/>
        </p:spPr>
      </p:sp>
      <p:sp>
        <p:nvSpPr>
          <p:cNvPr id="5" name="Shape 3"/>
          <p:cNvSpPr/>
          <p:nvPr/>
        </p:nvSpPr>
        <p:spPr>
          <a:xfrm>
            <a:off x="256032" y="822960"/>
            <a:ext cx="4297680" cy="868680"/>
          </a:xfrm>
          <a:prstGeom prst="rect">
            <a:avLst/>
          </a:prstGeom>
          <a:solidFill>
            <a:srgbClr val="1F3F1F">
              <a:alpha val="8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822960"/>
            <a:ext cx="502920" cy="868680"/>
          </a:xfrm>
          <a:prstGeom prst="rect">
            <a:avLst/>
          </a:prstGeom>
          <a:solidFill>
            <a:srgbClr val="97BC6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9184" y="100584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50392" y="89611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7BC62"/>
                </a:solidFill>
              </a:rPr>
              <a:t>Real-time Detection System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850392" y="1152144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DBF9E"/>
                </a:solidFill>
              </a:rPr>
              <a:t>Functional AgriLens system detecting plant diseases from leaf images in under 1 second per inference.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56032" y="1847088"/>
            <a:ext cx="4297680" cy="868680"/>
          </a:xfrm>
          <a:prstGeom prst="rect">
            <a:avLst/>
          </a:prstGeom>
          <a:solidFill>
            <a:srgbClr val="1F3F1F">
              <a:alpha val="8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56032" y="1847088"/>
            <a:ext cx="502920" cy="868680"/>
          </a:xfrm>
          <a:prstGeom prst="rect">
            <a:avLst/>
          </a:prstGeom>
          <a:solidFill>
            <a:srgbClr val="97BC6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2029968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50392" y="192024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7BC62"/>
                </a:solidFill>
              </a:rPr>
              <a:t>97–99% CNN Accuracy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850392" y="2176272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DBF9E"/>
                </a:solidFill>
              </a:rPr>
              <a:t>High-accuracy CNN outperforming traditional SVM and Random Forest models on 38 disease categories.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256032" y="2871216"/>
            <a:ext cx="4297680" cy="868680"/>
          </a:xfrm>
          <a:prstGeom prst="rect">
            <a:avLst/>
          </a:prstGeom>
          <a:solidFill>
            <a:srgbClr val="1F3F1F">
              <a:alpha val="8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256032" y="2871216"/>
            <a:ext cx="502920" cy="868680"/>
          </a:xfrm>
          <a:prstGeom prst="rect">
            <a:avLst/>
          </a:prstGeom>
          <a:solidFill>
            <a:srgbClr val="97BC62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" y="3054096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50392" y="294436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7BC62"/>
                </a:solidFill>
              </a:rPr>
              <a:t>Severity Classification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850392" y="32004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DBF9E"/>
                </a:solidFill>
              </a:rPr>
              <a:t>Mild/Moderate/Severe infection levels enabling timely crop intervention and reducing crop loss.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256032" y="3895344"/>
            <a:ext cx="4297680" cy="868680"/>
          </a:xfrm>
          <a:prstGeom prst="rect">
            <a:avLst/>
          </a:prstGeom>
          <a:solidFill>
            <a:srgbClr val="1F3F1F">
              <a:alpha val="8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256032" y="3895344"/>
            <a:ext cx="502920" cy="868680"/>
          </a:xfrm>
          <a:prstGeom prst="rect">
            <a:avLst/>
          </a:prstGeom>
          <a:solidFill>
            <a:srgbClr val="97BC62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" y="4078224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50392" y="3968496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7BC62"/>
                </a:solidFill>
              </a:rPr>
              <a:t>Grad-CAM XAI Heatmaps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850392" y="4224528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DBF9E"/>
                </a:solidFill>
              </a:rPr>
              <a:t>Visual explanations confirming infected leaf regions, enhancing farmer trust and model interpretability.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4937760" y="822960"/>
            <a:ext cx="4297680" cy="868680"/>
          </a:xfrm>
          <a:prstGeom prst="rect">
            <a:avLst/>
          </a:prstGeom>
          <a:solidFill>
            <a:srgbClr val="1F3F1F">
              <a:alpha val="8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937760" y="822960"/>
            <a:ext cx="502920" cy="868680"/>
          </a:xfrm>
          <a:prstGeom prst="rect">
            <a:avLst/>
          </a:prstGeom>
          <a:solidFill>
            <a:srgbClr val="97BC62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0912" y="1005840"/>
            <a:ext cx="365760" cy="3657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532120" y="89611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7BC62"/>
                </a:solidFill>
              </a:rPr>
              <a:t>Treatment Recommendations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5532120" y="1152144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DBF9E"/>
                </a:solidFill>
              </a:rPr>
              <a:t>Actionable disease management guidance delivered to farmers and agronomists post-diagnosis.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4937760" y="1847088"/>
            <a:ext cx="4297680" cy="868680"/>
          </a:xfrm>
          <a:prstGeom prst="rect">
            <a:avLst/>
          </a:prstGeom>
          <a:solidFill>
            <a:srgbClr val="1F3F1F">
              <a:alpha val="8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4937760" y="1847088"/>
            <a:ext cx="502920" cy="868680"/>
          </a:xfrm>
          <a:prstGeom prst="rect">
            <a:avLst/>
          </a:prstGeom>
          <a:solidFill>
            <a:srgbClr val="97BC62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0912" y="2029968"/>
            <a:ext cx="365760" cy="36576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532120" y="192024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7BC62"/>
                </a:solidFill>
              </a:rPr>
              <a:t>Mobile &amp; IoT Ready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5532120" y="2176272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DBF9E"/>
                </a:solidFill>
              </a:rPr>
              <a:t>Scalable architecture deployed on smartphones and IoT field devices — accessible anywhere.</a:t>
            </a:r>
            <a:endParaRPr lang="en-US" sz="1000" dirty="0"/>
          </a:p>
        </p:txBody>
      </p:sp>
      <p:sp>
        <p:nvSpPr>
          <p:cNvPr id="35" name="Shape 27"/>
          <p:cNvSpPr/>
          <p:nvPr/>
        </p:nvSpPr>
        <p:spPr>
          <a:xfrm>
            <a:off x="2377440" y="3895344"/>
            <a:ext cx="4389120" cy="868680"/>
          </a:xfrm>
          <a:prstGeom prst="rect">
            <a:avLst/>
          </a:prstGeom>
          <a:solidFill>
            <a:srgbClr val="1F3F1F">
              <a:alpha val="8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2377440" y="3895344"/>
            <a:ext cx="502920" cy="868680"/>
          </a:xfrm>
          <a:prstGeom prst="rect">
            <a:avLst/>
          </a:prstGeom>
          <a:solidFill>
            <a:srgbClr val="97BC62"/>
          </a:solidFill>
          <a:ln/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50592" y="4078224"/>
            <a:ext cx="365760" cy="36576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2971800" y="396849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7BC62"/>
                </a:solidFill>
              </a:rPr>
              <a:t>Precision Agriculture Support</a:t>
            </a:r>
            <a:endParaRPr lang="en-US" sz="1150" dirty="0"/>
          </a:p>
        </p:txBody>
      </p:sp>
      <p:sp>
        <p:nvSpPr>
          <p:cNvPr id="39" name="Text 30"/>
          <p:cNvSpPr/>
          <p:nvPr/>
        </p:nvSpPr>
        <p:spPr>
          <a:xfrm>
            <a:off x="2971800" y="422452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DBF9E"/>
                </a:solidFill>
              </a:rPr>
              <a:t>Contribution toward sustainable food production and global food security through AI-powered agronomy.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97BC6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9144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09728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Software and Hardware Requirements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274320" y="822960"/>
            <a:ext cx="4069080" cy="384048"/>
          </a:xfrm>
          <a:prstGeom prst="rect">
            <a:avLst/>
          </a:prstGeom>
          <a:solidFill>
            <a:srgbClr val="2C5F2D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877824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8368" y="88696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SOFTWARE REQUIREMENTS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274320" y="1298448"/>
            <a:ext cx="4069080" cy="420624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0" name="Text 6"/>
          <p:cNvSpPr/>
          <p:nvPr/>
        </p:nvSpPr>
        <p:spPr>
          <a:xfrm>
            <a:off x="365760" y="138074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5F2D"/>
                </a:solidFill>
              </a:rPr>
              <a:t>Language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1783080" y="1380744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Python 3.x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274320" y="1773936"/>
            <a:ext cx="406908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9"/>
          <p:cNvSpPr/>
          <p:nvPr/>
        </p:nvSpPr>
        <p:spPr>
          <a:xfrm>
            <a:off x="365760" y="185623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5F2D"/>
                </a:solidFill>
              </a:rPr>
              <a:t>DL Framework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1783080" y="185623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TensorFlow / Keras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274320" y="2249424"/>
            <a:ext cx="4069080" cy="420624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6" name="Text 12"/>
          <p:cNvSpPr/>
          <p:nvPr/>
        </p:nvSpPr>
        <p:spPr>
          <a:xfrm>
            <a:off x="365760" y="23317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5F2D"/>
                </a:solidFill>
              </a:rPr>
              <a:t>Computer Vision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1783080" y="23317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OpenCV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274320" y="2724912"/>
            <a:ext cx="406908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Text 15"/>
          <p:cNvSpPr/>
          <p:nvPr/>
        </p:nvSpPr>
        <p:spPr>
          <a:xfrm>
            <a:off x="365760" y="280720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5F2D"/>
                </a:solidFill>
              </a:rPr>
              <a:t>Explainability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1783080" y="280720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Grad-CAM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274320" y="3200400"/>
            <a:ext cx="4069080" cy="420624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2" name="Text 18"/>
          <p:cNvSpPr/>
          <p:nvPr/>
        </p:nvSpPr>
        <p:spPr>
          <a:xfrm>
            <a:off x="365760" y="328269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5F2D"/>
                </a:solidFill>
              </a:rPr>
              <a:t>IDE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1783080" y="328269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Jupyter Notebook / VS Code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274320" y="3675888"/>
            <a:ext cx="406908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1"/>
          <p:cNvSpPr/>
          <p:nvPr/>
        </p:nvSpPr>
        <p:spPr>
          <a:xfrm>
            <a:off x="365760" y="375818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5F2D"/>
                </a:solidFill>
              </a:rPr>
              <a:t>Dataset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1783080" y="3758184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PlantVillage (54,306 images, 38 classes)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274320" y="4151376"/>
            <a:ext cx="4069080" cy="420624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8" name="Text 24"/>
          <p:cNvSpPr/>
          <p:nvPr/>
        </p:nvSpPr>
        <p:spPr>
          <a:xfrm>
            <a:off x="365760" y="42336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5F2D"/>
                </a:solidFill>
              </a:rPr>
              <a:t>Visualization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>
            <a:off x="1783080" y="423367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Matplotlib / Seaborn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4800600" y="822960"/>
            <a:ext cx="4069080" cy="384048"/>
          </a:xfrm>
          <a:prstGeom prst="rect">
            <a:avLst/>
          </a:prstGeom>
          <a:solidFill>
            <a:srgbClr val="4A8B4A"/>
          </a:solidFill>
          <a:ln/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877824"/>
            <a:ext cx="274320" cy="27432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5193792" y="88696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HARDWARE REQUIREMENTS</a:t>
            </a:r>
            <a:endParaRPr lang="en-US" sz="1200" dirty="0"/>
          </a:p>
        </p:txBody>
      </p:sp>
      <p:sp>
        <p:nvSpPr>
          <p:cNvPr id="33" name="Shape 28"/>
          <p:cNvSpPr/>
          <p:nvPr/>
        </p:nvSpPr>
        <p:spPr>
          <a:xfrm>
            <a:off x="4800600" y="1298448"/>
            <a:ext cx="4069080" cy="420624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34" name="Text 29"/>
          <p:cNvSpPr/>
          <p:nvPr/>
        </p:nvSpPr>
        <p:spPr>
          <a:xfrm>
            <a:off x="4892040" y="138074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8B4A"/>
                </a:solidFill>
              </a:rPr>
              <a:t>Processor</a:t>
            </a:r>
            <a:endParaRPr lang="en-US" sz="1050" dirty="0"/>
          </a:p>
        </p:txBody>
      </p:sp>
      <p:sp>
        <p:nvSpPr>
          <p:cNvPr id="35" name="Text 30"/>
          <p:cNvSpPr/>
          <p:nvPr/>
        </p:nvSpPr>
        <p:spPr>
          <a:xfrm>
            <a:off x="6309360" y="1380744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Intel Core i5 / i7 or equivalent</a:t>
            </a:r>
            <a:endParaRPr lang="en-US" sz="1050" dirty="0"/>
          </a:p>
        </p:txBody>
      </p:sp>
      <p:sp>
        <p:nvSpPr>
          <p:cNvPr id="36" name="Shape 31"/>
          <p:cNvSpPr/>
          <p:nvPr/>
        </p:nvSpPr>
        <p:spPr>
          <a:xfrm>
            <a:off x="4800600" y="1773936"/>
            <a:ext cx="406908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2"/>
          <p:cNvSpPr/>
          <p:nvPr/>
        </p:nvSpPr>
        <p:spPr>
          <a:xfrm>
            <a:off x="4892040" y="185623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8B4A"/>
                </a:solidFill>
              </a:rPr>
              <a:t>RAM</a:t>
            </a:r>
            <a:endParaRPr lang="en-US" sz="1050" dirty="0"/>
          </a:p>
        </p:txBody>
      </p:sp>
      <p:sp>
        <p:nvSpPr>
          <p:cNvPr id="38" name="Text 33"/>
          <p:cNvSpPr/>
          <p:nvPr/>
        </p:nvSpPr>
        <p:spPr>
          <a:xfrm>
            <a:off x="6309360" y="185623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8–16 GB minimum</a:t>
            </a:r>
            <a:endParaRPr lang="en-US" sz="1050" dirty="0"/>
          </a:p>
        </p:txBody>
      </p:sp>
      <p:sp>
        <p:nvSpPr>
          <p:cNvPr id="39" name="Shape 34"/>
          <p:cNvSpPr/>
          <p:nvPr/>
        </p:nvSpPr>
        <p:spPr>
          <a:xfrm>
            <a:off x="4800600" y="2249424"/>
            <a:ext cx="4069080" cy="420624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40" name="Text 35"/>
          <p:cNvSpPr/>
          <p:nvPr/>
        </p:nvSpPr>
        <p:spPr>
          <a:xfrm>
            <a:off x="4892040" y="23317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8B4A"/>
                </a:solidFill>
              </a:rPr>
              <a:t>GPU</a:t>
            </a:r>
            <a:endParaRPr lang="en-US" sz="1050" dirty="0"/>
          </a:p>
        </p:txBody>
      </p:sp>
      <p:sp>
        <p:nvSpPr>
          <p:cNvPr id="41" name="Text 36"/>
          <p:cNvSpPr/>
          <p:nvPr/>
        </p:nvSpPr>
        <p:spPr>
          <a:xfrm>
            <a:off x="6309360" y="23317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NVIDIA GPU with CUDA support (for training)</a:t>
            </a:r>
            <a:endParaRPr lang="en-US" sz="1050" dirty="0"/>
          </a:p>
        </p:txBody>
      </p:sp>
      <p:sp>
        <p:nvSpPr>
          <p:cNvPr id="42" name="Shape 37"/>
          <p:cNvSpPr/>
          <p:nvPr/>
        </p:nvSpPr>
        <p:spPr>
          <a:xfrm>
            <a:off x="4800600" y="2724912"/>
            <a:ext cx="406908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38"/>
          <p:cNvSpPr/>
          <p:nvPr/>
        </p:nvSpPr>
        <p:spPr>
          <a:xfrm>
            <a:off x="4892040" y="280720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8B4A"/>
                </a:solidFill>
              </a:rPr>
              <a:t>Storage</a:t>
            </a:r>
            <a:endParaRPr lang="en-US" sz="1050" dirty="0"/>
          </a:p>
        </p:txBody>
      </p:sp>
      <p:sp>
        <p:nvSpPr>
          <p:cNvPr id="44" name="Text 39"/>
          <p:cNvSpPr/>
          <p:nvPr/>
        </p:nvSpPr>
        <p:spPr>
          <a:xfrm>
            <a:off x="6309360" y="280720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50 GB minimum (dataset + model files)</a:t>
            </a:r>
            <a:endParaRPr lang="en-US" sz="1050" dirty="0"/>
          </a:p>
        </p:txBody>
      </p:sp>
      <p:sp>
        <p:nvSpPr>
          <p:cNvPr id="45" name="Shape 40"/>
          <p:cNvSpPr/>
          <p:nvPr/>
        </p:nvSpPr>
        <p:spPr>
          <a:xfrm>
            <a:off x="4800600" y="3200400"/>
            <a:ext cx="4069080" cy="420624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46" name="Text 41"/>
          <p:cNvSpPr/>
          <p:nvPr/>
        </p:nvSpPr>
        <p:spPr>
          <a:xfrm>
            <a:off x="4892040" y="328269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8B4A"/>
                </a:solidFill>
              </a:rPr>
              <a:t>Field Device</a:t>
            </a:r>
            <a:endParaRPr lang="en-US" sz="1050" dirty="0"/>
          </a:p>
        </p:txBody>
      </p:sp>
      <p:sp>
        <p:nvSpPr>
          <p:cNvPr id="47" name="Text 42"/>
          <p:cNvSpPr/>
          <p:nvPr/>
        </p:nvSpPr>
        <p:spPr>
          <a:xfrm>
            <a:off x="6309360" y="328269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Smartphone or IoT-based camera module</a:t>
            </a:r>
            <a:endParaRPr lang="en-US" sz="1050" dirty="0"/>
          </a:p>
        </p:txBody>
      </p:sp>
      <p:sp>
        <p:nvSpPr>
          <p:cNvPr id="48" name="Shape 43"/>
          <p:cNvSpPr/>
          <p:nvPr/>
        </p:nvSpPr>
        <p:spPr>
          <a:xfrm>
            <a:off x="4800600" y="3675888"/>
            <a:ext cx="4069080" cy="42062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Text 44"/>
          <p:cNvSpPr/>
          <p:nvPr/>
        </p:nvSpPr>
        <p:spPr>
          <a:xfrm>
            <a:off x="4892040" y="375818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A8B4A"/>
                </a:solidFill>
              </a:rPr>
              <a:t>OS</a:t>
            </a:r>
            <a:endParaRPr lang="en-US" sz="1050" dirty="0"/>
          </a:p>
        </p:txBody>
      </p:sp>
      <p:sp>
        <p:nvSpPr>
          <p:cNvPr id="50" name="Text 45"/>
          <p:cNvSpPr/>
          <p:nvPr/>
        </p:nvSpPr>
        <p:spPr>
          <a:xfrm>
            <a:off x="6309360" y="3758184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</a:rPr>
              <a:t>Ubuntu 20.04 / Windows 10 or later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9728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Process Model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2976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502920" cy="8686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9144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7BC62"/>
                </a:solidFill>
              </a:rPr>
              <a:t>01</a:t>
            </a:r>
            <a:endParaRPr lang="en-US" sz="13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07008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89611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</a:rPr>
              <a:t>Image Acquisition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68680" y="1170432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Leaf images captured via smartphone or digital camera in field conditions</a:t>
            </a:r>
            <a:endParaRPr lang="en-US" sz="10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143000"/>
            <a:ext cx="182880" cy="18288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846320" y="822960"/>
            <a:ext cx="4297680" cy="86868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846320" y="822960"/>
            <a:ext cx="502920" cy="8686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4" name="Text 10"/>
          <p:cNvSpPr/>
          <p:nvPr/>
        </p:nvSpPr>
        <p:spPr>
          <a:xfrm>
            <a:off x="4846320" y="9144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7BC62"/>
                </a:solidFill>
              </a:rPr>
              <a:t>02</a:t>
            </a:r>
            <a:endParaRPr lang="en-US" sz="13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207008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40680" y="89611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</a:rPr>
              <a:t>Preprocessing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5440680" y="1170432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Resize (224×224), normalize [0,1], denoise with Gaussian blur, background filter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274320" y="1847088"/>
            <a:ext cx="4297680" cy="86868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274320" y="1847088"/>
            <a:ext cx="502920" cy="8686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0" name="Text 15"/>
          <p:cNvSpPr/>
          <p:nvPr/>
        </p:nvSpPr>
        <p:spPr>
          <a:xfrm>
            <a:off x="274320" y="1938528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7BC62"/>
                </a:solidFill>
              </a:rPr>
              <a:t>03</a:t>
            </a:r>
            <a:endParaRPr lang="en-US" sz="13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2231136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68680" y="192024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</a:rPr>
              <a:t>Feature Extraction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868680" y="2194560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CNN extracts hierarchical visual features: texture, color patterns, spot shapes</a:t>
            </a:r>
            <a:endParaRPr lang="en-US" sz="100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7720" y="2167128"/>
            <a:ext cx="182880" cy="18288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4846320" y="1847088"/>
            <a:ext cx="42976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4846320" y="1847088"/>
            <a:ext cx="502920" cy="8686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7" name="Text 20"/>
          <p:cNvSpPr/>
          <p:nvPr/>
        </p:nvSpPr>
        <p:spPr>
          <a:xfrm>
            <a:off x="4846320" y="1938528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7BC62"/>
                </a:solidFill>
              </a:rPr>
              <a:t>04</a:t>
            </a:r>
            <a:endParaRPr lang="en-US" sz="1300" dirty="0"/>
          </a:p>
        </p:txBody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2231136"/>
            <a:ext cx="320040" cy="32004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440680" y="192024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</a:rPr>
              <a:t>Disease Classification</a:t>
            </a:r>
            <a:endParaRPr lang="en-US" sz="1200" dirty="0"/>
          </a:p>
        </p:txBody>
      </p:sp>
      <p:sp>
        <p:nvSpPr>
          <p:cNvPr id="30" name="Text 22"/>
          <p:cNvSpPr/>
          <p:nvPr/>
        </p:nvSpPr>
        <p:spPr>
          <a:xfrm>
            <a:off x="5440680" y="2194560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CNN identifies disease type with confidence score across 38 disease categories</a:t>
            </a:r>
            <a:endParaRPr lang="en-US" sz="1000" dirty="0"/>
          </a:p>
        </p:txBody>
      </p:sp>
      <p:sp>
        <p:nvSpPr>
          <p:cNvPr id="31" name="Shape 23"/>
          <p:cNvSpPr/>
          <p:nvPr/>
        </p:nvSpPr>
        <p:spPr>
          <a:xfrm>
            <a:off x="274320" y="2871216"/>
            <a:ext cx="429768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274320" y="2871216"/>
            <a:ext cx="502920" cy="8686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3" name="Text 25"/>
          <p:cNvSpPr/>
          <p:nvPr/>
        </p:nvSpPr>
        <p:spPr>
          <a:xfrm>
            <a:off x="274320" y="296265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7BC62"/>
                </a:solidFill>
              </a:rPr>
              <a:t>05</a:t>
            </a:r>
            <a:endParaRPr lang="en-US" sz="1300" dirty="0"/>
          </a:p>
        </p:txBody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760" y="3255264"/>
            <a:ext cx="320040" cy="320040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868680" y="294436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</a:rPr>
              <a:t>Severity Estimation</a:t>
            </a:r>
            <a:endParaRPr lang="en-US" sz="1200" dirty="0"/>
          </a:p>
        </p:txBody>
      </p:sp>
      <p:sp>
        <p:nvSpPr>
          <p:cNvPr id="36" name="Text 27"/>
          <p:cNvSpPr/>
          <p:nvPr/>
        </p:nvSpPr>
        <p:spPr>
          <a:xfrm>
            <a:off x="868680" y="3218688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Module rates infection: Mild (&lt;20%), Moderate (20–50%), Severe (&gt;50%) area</a:t>
            </a:r>
            <a:endParaRPr lang="en-US" sz="1000" dirty="0"/>
          </a:p>
        </p:txBody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17720" y="3191256"/>
            <a:ext cx="182880" cy="182880"/>
          </a:xfrm>
          <a:prstGeom prst="rect">
            <a:avLst/>
          </a:prstGeom>
        </p:spPr>
      </p:pic>
      <p:sp>
        <p:nvSpPr>
          <p:cNvPr id="38" name="Shape 28"/>
          <p:cNvSpPr/>
          <p:nvPr/>
        </p:nvSpPr>
        <p:spPr>
          <a:xfrm>
            <a:off x="4846320" y="2871216"/>
            <a:ext cx="4297680" cy="86868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29"/>
          <p:cNvSpPr/>
          <p:nvPr/>
        </p:nvSpPr>
        <p:spPr>
          <a:xfrm>
            <a:off x="4846320" y="2871216"/>
            <a:ext cx="502920" cy="8686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0" name="Text 30"/>
          <p:cNvSpPr/>
          <p:nvPr/>
        </p:nvSpPr>
        <p:spPr>
          <a:xfrm>
            <a:off x="4846320" y="2962656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7BC62"/>
                </a:solidFill>
              </a:rPr>
              <a:t>06</a:t>
            </a:r>
            <a:endParaRPr lang="en-US" sz="1300" dirty="0"/>
          </a:p>
        </p:txBody>
      </p:sp>
      <p:pic>
        <p:nvPicPr>
          <p:cNvPr id="4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37760" y="3255264"/>
            <a:ext cx="320040" cy="320040"/>
          </a:xfrm>
          <a:prstGeom prst="rect">
            <a:avLst/>
          </a:prstGeom>
        </p:spPr>
      </p:pic>
      <p:sp>
        <p:nvSpPr>
          <p:cNvPr id="42" name="Text 31"/>
          <p:cNvSpPr/>
          <p:nvPr/>
        </p:nvSpPr>
        <p:spPr>
          <a:xfrm>
            <a:off x="5440680" y="2944368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</a:rPr>
              <a:t>Explainability</a:t>
            </a:r>
            <a:endParaRPr lang="en-US" sz="1200" dirty="0"/>
          </a:p>
        </p:txBody>
      </p:sp>
      <p:sp>
        <p:nvSpPr>
          <p:cNvPr id="43" name="Text 32"/>
          <p:cNvSpPr/>
          <p:nvPr/>
        </p:nvSpPr>
        <p:spPr>
          <a:xfrm>
            <a:off x="5440680" y="3218688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Grad-CAM heatmap overlaid on original leaf highlighting infected regions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2286000" y="3895344"/>
            <a:ext cx="4572000" cy="868680"/>
          </a:xfrm>
          <a:prstGeom prst="rect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Text 34"/>
          <p:cNvSpPr/>
          <p:nvPr/>
        </p:nvSpPr>
        <p:spPr>
          <a:xfrm>
            <a:off x="2359152" y="40782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7BC62"/>
                </a:solidFill>
              </a:rPr>
              <a:t>07</a:t>
            </a:r>
            <a:endParaRPr lang="en-US" sz="1800" dirty="0"/>
          </a:p>
        </p:txBody>
      </p:sp>
      <p:pic>
        <p:nvPicPr>
          <p:cNvPr id="4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880360" y="4096512"/>
            <a:ext cx="384048" cy="384048"/>
          </a:xfrm>
          <a:prstGeom prst="rect">
            <a:avLst/>
          </a:prstGeom>
        </p:spPr>
      </p:pic>
      <p:sp>
        <p:nvSpPr>
          <p:cNvPr id="47" name="Text 35"/>
          <p:cNvSpPr/>
          <p:nvPr/>
        </p:nvSpPr>
        <p:spPr>
          <a:xfrm>
            <a:off x="3337560" y="3986784"/>
            <a:ext cx="3337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7BC62"/>
                </a:solidFill>
              </a:rPr>
              <a:t>Recommendation</a:t>
            </a:r>
            <a:endParaRPr lang="en-US" sz="1200" dirty="0"/>
          </a:p>
        </p:txBody>
      </p:sp>
      <p:sp>
        <p:nvSpPr>
          <p:cNvPr id="48" name="Text 36"/>
          <p:cNvSpPr/>
          <p:nvPr/>
        </p:nvSpPr>
        <p:spPr>
          <a:xfrm>
            <a:off x="3337560" y="4261104"/>
            <a:ext cx="3337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DBF9E"/>
                </a:solidFill>
              </a:rPr>
              <a:t>System provides targeted treatment and crop management suggestions to farmer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3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097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Phase — Architectural Diagram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548640"/>
            <a:ext cx="8595360" cy="36576"/>
          </a:xfrm>
          <a:prstGeom prst="rect">
            <a:avLst/>
          </a:prstGeom>
          <a:solidFill>
            <a:srgbClr val="4A8B4A"/>
          </a:solidFill>
          <a:ln/>
        </p:spPr>
      </p:sp>
      <p:sp>
        <p:nvSpPr>
          <p:cNvPr id="5" name="Shape 3"/>
          <p:cNvSpPr/>
          <p:nvPr/>
        </p:nvSpPr>
        <p:spPr>
          <a:xfrm>
            <a:off x="256032" y="731520"/>
            <a:ext cx="1097280" cy="3474720"/>
          </a:xfrm>
          <a:prstGeom prst="rect">
            <a:avLst/>
          </a:prstGeom>
          <a:solidFill>
            <a:srgbClr val="97BC6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877824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92608" y="1371600"/>
            <a:ext cx="10241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INPUT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292608" y="1938528"/>
            <a:ext cx="10241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EEDD"/>
                </a:solidFill>
              </a:rPr>
              <a:t>Leaf image via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DEEDD"/>
                </a:solidFill>
              </a:rPr>
              <a:t>smartphone/camera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1353312" y="1920240"/>
            <a:ext cx="146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7BC62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499616" y="731520"/>
            <a:ext cx="1097280" cy="3474720"/>
          </a:xfrm>
          <a:prstGeom prst="rect">
            <a:avLst/>
          </a:prstGeom>
          <a:solidFill>
            <a:srgbClr val="4A8B4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5376" y="877824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36192" y="1371600"/>
            <a:ext cx="10241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PREPROCESSING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1536192" y="1938528"/>
            <a:ext cx="10241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EEDD"/>
                </a:solidFill>
              </a:rPr>
              <a:t>Resize → Normalize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DEEDD"/>
                </a:solidFill>
              </a:rPr>
              <a:t>→ Denoise → Filter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2596896" y="1920240"/>
            <a:ext cx="146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7BC62"/>
                </a:solidFill>
              </a:rPr>
              <a:t>→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2743200" y="731520"/>
            <a:ext cx="1097280" cy="3474720"/>
          </a:xfrm>
          <a:prstGeom prst="rect">
            <a:avLst/>
          </a:prstGeom>
          <a:solidFill>
            <a:srgbClr val="5A8B5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8960" y="877824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779776" y="1371600"/>
            <a:ext cx="10241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CNN BACKBONE</a:t>
            </a:r>
            <a:endParaRPr lang="en-US" sz="950" dirty="0"/>
          </a:p>
        </p:txBody>
      </p:sp>
      <p:sp>
        <p:nvSpPr>
          <p:cNvPr id="18" name="Text 13"/>
          <p:cNvSpPr/>
          <p:nvPr/>
        </p:nvSpPr>
        <p:spPr>
          <a:xfrm>
            <a:off x="2779776" y="1938528"/>
            <a:ext cx="10241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EEDD"/>
                </a:solidFill>
              </a:rPr>
              <a:t>Conv Layers → Batch Norm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DEEDD"/>
                </a:solidFill>
              </a:rPr>
              <a:t>→ MaxPool → Drop</a:t>
            </a:r>
            <a:endParaRPr lang="en-US" sz="850" dirty="0"/>
          </a:p>
        </p:txBody>
      </p:sp>
      <p:sp>
        <p:nvSpPr>
          <p:cNvPr id="19" name="Text 14"/>
          <p:cNvSpPr/>
          <p:nvPr/>
        </p:nvSpPr>
        <p:spPr>
          <a:xfrm>
            <a:off x="3840480" y="1920240"/>
            <a:ext cx="146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7BC62"/>
                </a:solidFill>
              </a:rPr>
              <a:t>→</a:t>
            </a:r>
            <a:endParaRPr lang="en-US" sz="1600" dirty="0"/>
          </a:p>
        </p:txBody>
      </p:sp>
      <p:sp>
        <p:nvSpPr>
          <p:cNvPr id="20" name="Shape 15"/>
          <p:cNvSpPr/>
          <p:nvPr/>
        </p:nvSpPr>
        <p:spPr>
          <a:xfrm>
            <a:off x="3986784" y="731520"/>
            <a:ext cx="1097280" cy="3474720"/>
          </a:xfrm>
          <a:prstGeom prst="rect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2544" y="877824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023360" y="1371600"/>
            <a:ext cx="10241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CLASSIFICATION</a:t>
            </a:r>
            <a:endParaRPr lang="en-US" sz="950" dirty="0"/>
          </a:p>
        </p:txBody>
      </p:sp>
      <p:sp>
        <p:nvSpPr>
          <p:cNvPr id="23" name="Text 17"/>
          <p:cNvSpPr/>
          <p:nvPr/>
        </p:nvSpPr>
        <p:spPr>
          <a:xfrm>
            <a:off x="4023360" y="1938528"/>
            <a:ext cx="10241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EEDD"/>
                </a:solidFill>
              </a:rPr>
              <a:t>Dense → Softmax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DEEDD"/>
                </a:solidFill>
              </a:rPr>
              <a:t>→ Label + Score</a:t>
            </a:r>
            <a:endParaRPr lang="en-US" sz="850" dirty="0"/>
          </a:p>
        </p:txBody>
      </p:sp>
      <p:sp>
        <p:nvSpPr>
          <p:cNvPr id="24" name="Text 18"/>
          <p:cNvSpPr/>
          <p:nvPr/>
        </p:nvSpPr>
        <p:spPr>
          <a:xfrm>
            <a:off x="5084064" y="1920240"/>
            <a:ext cx="146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7BC62"/>
                </a:solidFill>
              </a:rPr>
              <a:t>→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5230368" y="731520"/>
            <a:ext cx="1097280" cy="3474720"/>
          </a:xfrm>
          <a:prstGeom prst="rect">
            <a:avLst/>
          </a:prstGeom>
          <a:solidFill>
            <a:srgbClr val="3A6F3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6128" y="877824"/>
            <a:ext cx="384048" cy="38404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66944" y="1371600"/>
            <a:ext cx="10241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SEVERITY MODULE</a:t>
            </a:r>
            <a:endParaRPr lang="en-US" sz="950" dirty="0"/>
          </a:p>
        </p:txBody>
      </p:sp>
      <p:sp>
        <p:nvSpPr>
          <p:cNvPr id="28" name="Text 21"/>
          <p:cNvSpPr/>
          <p:nvPr/>
        </p:nvSpPr>
        <p:spPr>
          <a:xfrm>
            <a:off x="5266944" y="1938528"/>
            <a:ext cx="10241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EEDD"/>
                </a:solidFill>
              </a:rPr>
              <a:t>Area Analysis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DEEDD"/>
                </a:solidFill>
              </a:rPr>
              <a:t>Mild/Mod/Severe</a:t>
            </a:r>
            <a:endParaRPr lang="en-US" sz="850" dirty="0"/>
          </a:p>
        </p:txBody>
      </p:sp>
      <p:sp>
        <p:nvSpPr>
          <p:cNvPr id="29" name="Text 22"/>
          <p:cNvSpPr/>
          <p:nvPr/>
        </p:nvSpPr>
        <p:spPr>
          <a:xfrm>
            <a:off x="6327648" y="1920240"/>
            <a:ext cx="146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7BC62"/>
                </a:solidFill>
              </a:rPr>
              <a:t>→</a:t>
            </a:r>
            <a:endParaRPr lang="en-US" sz="1600" dirty="0"/>
          </a:p>
        </p:txBody>
      </p:sp>
      <p:sp>
        <p:nvSpPr>
          <p:cNvPr id="30" name="Shape 23"/>
          <p:cNvSpPr/>
          <p:nvPr/>
        </p:nvSpPr>
        <p:spPr>
          <a:xfrm>
            <a:off x="6473952" y="731520"/>
            <a:ext cx="1097280" cy="3474720"/>
          </a:xfrm>
          <a:prstGeom prst="rect">
            <a:avLst/>
          </a:prstGeom>
          <a:solidFill>
            <a:srgbClr val="2D5A2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9712" y="877824"/>
            <a:ext cx="384048" cy="38404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510528" y="1371600"/>
            <a:ext cx="10241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GRAD-CAM XAI</a:t>
            </a:r>
            <a:endParaRPr lang="en-US" sz="950" dirty="0"/>
          </a:p>
        </p:txBody>
      </p:sp>
      <p:sp>
        <p:nvSpPr>
          <p:cNvPr id="33" name="Text 25"/>
          <p:cNvSpPr/>
          <p:nvPr/>
        </p:nvSpPr>
        <p:spPr>
          <a:xfrm>
            <a:off x="6510528" y="1938528"/>
            <a:ext cx="10241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EEDD"/>
                </a:solidFill>
              </a:rPr>
              <a:t>Heatmap overlay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DEEDD"/>
                </a:solidFill>
              </a:rPr>
              <a:t>on leaf image</a:t>
            </a:r>
            <a:endParaRPr lang="en-US" sz="850" dirty="0"/>
          </a:p>
        </p:txBody>
      </p:sp>
      <p:sp>
        <p:nvSpPr>
          <p:cNvPr id="34" name="Text 26"/>
          <p:cNvSpPr/>
          <p:nvPr/>
        </p:nvSpPr>
        <p:spPr>
          <a:xfrm>
            <a:off x="7571232" y="1920240"/>
            <a:ext cx="14630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7BC62"/>
                </a:solidFill>
              </a:rPr>
              <a:t>→</a:t>
            </a:r>
            <a:endParaRPr lang="en-US" sz="1600" dirty="0"/>
          </a:p>
        </p:txBody>
      </p:sp>
      <p:sp>
        <p:nvSpPr>
          <p:cNvPr id="35" name="Shape 27"/>
          <p:cNvSpPr/>
          <p:nvPr/>
        </p:nvSpPr>
        <p:spPr>
          <a:xfrm>
            <a:off x="7717536" y="731520"/>
            <a:ext cx="1097280" cy="3474720"/>
          </a:xfrm>
          <a:prstGeom prst="rect">
            <a:avLst/>
          </a:prstGeom>
          <a:solidFill>
            <a:srgbClr val="D4A01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83296" y="877824"/>
            <a:ext cx="384048" cy="384048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7754112" y="1371600"/>
            <a:ext cx="10241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OUTPUT</a:t>
            </a:r>
            <a:endParaRPr lang="en-US" sz="950" dirty="0"/>
          </a:p>
        </p:txBody>
      </p:sp>
      <p:sp>
        <p:nvSpPr>
          <p:cNvPr id="38" name="Text 29"/>
          <p:cNvSpPr/>
          <p:nvPr/>
        </p:nvSpPr>
        <p:spPr>
          <a:xfrm>
            <a:off x="7754112" y="1938528"/>
            <a:ext cx="102412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DDEEDD"/>
                </a:solidFill>
              </a:rPr>
              <a:t>Disease + Severity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DDEEDD"/>
                </a:solidFill>
              </a:rPr>
              <a:t>+ Treatment</a:t>
            </a:r>
            <a:endParaRPr lang="en-US" sz="850" dirty="0"/>
          </a:p>
        </p:txBody>
      </p:sp>
      <p:sp>
        <p:nvSpPr>
          <p:cNvPr id="39" name="Shape 30"/>
          <p:cNvSpPr/>
          <p:nvPr/>
        </p:nvSpPr>
        <p:spPr>
          <a:xfrm>
            <a:off x="256032" y="4343400"/>
            <a:ext cx="8641080" cy="548640"/>
          </a:xfrm>
          <a:prstGeom prst="rect">
            <a:avLst/>
          </a:prstGeom>
          <a:solidFill>
            <a:srgbClr val="1F3F1F"/>
          </a:solidFill>
          <a:ln/>
        </p:spPr>
      </p:sp>
      <p:sp>
        <p:nvSpPr>
          <p:cNvPr id="40" name="Text 31"/>
          <p:cNvSpPr/>
          <p:nvPr/>
        </p:nvSpPr>
        <p:spPr>
          <a:xfrm>
            <a:off x="365760" y="4416552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7BC62"/>
                </a:solidFill>
              </a:rPr>
              <a:t>Development Model: Agile / Iterative — model retrained continuously as new labeled data is added from field deployments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9728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Phase — Data Flow Diagram (DFD Level 1)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82880" y="1005840"/>
            <a:ext cx="1371600" cy="594360"/>
          </a:xfrm>
          <a:prstGeom prst="rect">
            <a:avLst/>
          </a:prstGeom>
          <a:solidFill>
            <a:srgbClr val="1A3C1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" y="1156716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FARMER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(User)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28800" y="777240"/>
            <a:ext cx="5486400" cy="4069080"/>
          </a:xfrm>
          <a:prstGeom prst="rect">
            <a:avLst/>
          </a:prstGeom>
          <a:solidFill>
            <a:srgbClr val="E8F5E9">
              <a:alpha val="40000"/>
            </a:srgbClr>
          </a:solidFill>
          <a:ln w="19050">
            <a:solidFill>
              <a:srgbClr val="4A8B4A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114800" y="804672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A8B4A"/>
                </a:solidFill>
              </a:rPr>
              <a:t>AgriLens System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194560" y="914400"/>
            <a:ext cx="1463040" cy="594360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240280" y="1065276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P1: Image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Capture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40480" y="914400"/>
            <a:ext cx="1463040" cy="594360"/>
          </a:xfrm>
          <a:prstGeom prst="ellipse">
            <a:avLst/>
          </a:prstGeom>
          <a:solidFill>
            <a:srgbClr val="4A8B4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886200" y="1065276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P2: Pre-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processing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669280" y="914400"/>
            <a:ext cx="1463040" cy="594360"/>
          </a:xfrm>
          <a:prstGeom prst="ellipse">
            <a:avLst/>
          </a:prstGeom>
          <a:solidFill>
            <a:srgbClr val="3A6F3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715000" y="1065276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P3: CNN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Inference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194560" y="2560320"/>
            <a:ext cx="1463040" cy="594360"/>
          </a:xfrm>
          <a:prstGeom prst="ellipse">
            <a:avLst/>
          </a:prstGeom>
          <a:solidFill>
            <a:srgbClr val="5A8B5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240280" y="2711196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P4: Severity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Analysis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40480" y="2560320"/>
            <a:ext cx="1463040" cy="594360"/>
          </a:xfrm>
          <a:prstGeom prst="ellipse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886200" y="2711196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P5: Grad-CAM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XAI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669280" y="2560320"/>
            <a:ext cx="1463040" cy="594360"/>
          </a:xfrm>
          <a:prstGeom prst="ellipse">
            <a:avLst/>
          </a:prstGeom>
          <a:solidFill>
            <a:srgbClr val="1A3C1A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715000" y="2711196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P6: Output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Generation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103120" y="3931920"/>
            <a:ext cx="1828800" cy="502920"/>
          </a:xfrm>
          <a:prstGeom prst="rect">
            <a:avLst/>
          </a:prstGeom>
          <a:solidFill>
            <a:srgbClr val="B0CCB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148840" y="4037076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C1A"/>
                </a:solidFill>
              </a:rPr>
              <a:t>DS1: PlantVillage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A3C1A"/>
                </a:solidFill>
              </a:rPr>
              <a:t>Dataset (54K)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303520" y="3931920"/>
            <a:ext cx="1828800" cy="502920"/>
          </a:xfrm>
          <a:prstGeom prst="rect">
            <a:avLst/>
          </a:prstGeom>
          <a:solidFill>
            <a:srgbClr val="B0CCB0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349240" y="4037076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C1A"/>
                </a:solidFill>
              </a:rPr>
              <a:t>DS2: CNN Model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A3C1A"/>
                </a:solidFill>
              </a:rPr>
              <a:t>Weights (.h5)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589520" y="2560320"/>
            <a:ext cx="1371600" cy="594360"/>
          </a:xfrm>
          <a:prstGeom prst="rect">
            <a:avLst/>
          </a:prstGeom>
          <a:solidFill>
            <a:srgbClr val="D4A017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7635240" y="2711196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REPORT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(Farmer)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554480" y="1298448"/>
            <a:ext cx="640080" cy="-91440"/>
          </a:xfrm>
          <a:prstGeom prst="line">
            <a:avLst/>
          </a:prstGeom>
          <a:noFill/>
          <a:ln w="19050">
            <a:solidFill>
              <a:srgbClr val="4A8B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0" y="1207008"/>
            <a:ext cx="182880" cy="0"/>
          </a:xfrm>
          <a:prstGeom prst="line">
            <a:avLst/>
          </a:prstGeom>
          <a:noFill/>
          <a:ln w="19050">
            <a:solidFill>
              <a:srgbClr val="4A8B4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03520" y="1207008"/>
            <a:ext cx="365760" cy="0"/>
          </a:xfrm>
          <a:prstGeom prst="line">
            <a:avLst/>
          </a:prstGeom>
          <a:noFill/>
          <a:ln w="19050">
            <a:solidFill>
              <a:srgbClr val="4A8B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0" y="1207008"/>
            <a:ext cx="914400" cy="0"/>
          </a:xfrm>
          <a:prstGeom prst="line">
            <a:avLst/>
          </a:prstGeom>
          <a:noFill/>
          <a:ln w="19050">
            <a:solidFill>
              <a:srgbClr val="4A8B4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0" y="1207008"/>
            <a:ext cx="182880" cy="1353312"/>
          </a:xfrm>
          <a:prstGeom prst="line">
            <a:avLst/>
          </a:prstGeom>
          <a:noFill/>
          <a:ln w="19050">
            <a:solidFill>
              <a:srgbClr val="4A8B4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669280" y="1828800"/>
            <a:ext cx="0" cy="731520"/>
          </a:xfrm>
          <a:prstGeom prst="line">
            <a:avLst/>
          </a:prstGeom>
          <a:noFill/>
          <a:ln w="19050">
            <a:solidFill>
              <a:srgbClr val="4A8B4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657600" y="2852928"/>
            <a:ext cx="182880" cy="0"/>
          </a:xfrm>
          <a:prstGeom prst="line">
            <a:avLst/>
          </a:prstGeom>
          <a:noFill/>
          <a:ln w="19050">
            <a:solidFill>
              <a:srgbClr val="4A8B4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926080" y="2560320"/>
            <a:ext cx="0" cy="-731520"/>
          </a:xfrm>
          <a:prstGeom prst="line">
            <a:avLst/>
          </a:prstGeom>
          <a:noFill/>
          <a:ln w="19050">
            <a:solidFill>
              <a:srgbClr val="4A8B4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303520" y="2852928"/>
            <a:ext cx="365760" cy="0"/>
          </a:xfrm>
          <a:prstGeom prst="line">
            <a:avLst/>
          </a:prstGeom>
          <a:noFill/>
          <a:ln w="19050">
            <a:solidFill>
              <a:srgbClr val="4A8B4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132320" y="2852928"/>
            <a:ext cx="457200" cy="0"/>
          </a:xfrm>
          <a:prstGeom prst="line">
            <a:avLst/>
          </a:prstGeom>
          <a:noFill/>
          <a:ln w="19050">
            <a:solidFill>
              <a:srgbClr val="4A8B4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017520" y="3931920"/>
            <a:ext cx="0" cy="-777240"/>
          </a:xfrm>
          <a:prstGeom prst="line">
            <a:avLst/>
          </a:prstGeom>
          <a:noFill/>
          <a:ln w="19050">
            <a:solidFill>
              <a:srgbClr val="4A8B4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17920" y="3931920"/>
            <a:ext cx="0" cy="-777240"/>
          </a:xfrm>
          <a:prstGeom prst="line">
            <a:avLst/>
          </a:prstGeom>
          <a:noFill/>
          <a:ln w="19050">
            <a:solidFill>
              <a:srgbClr val="4A8B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4864608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Dashed border = System boundary  |  Ovals = Processes  |  Rectangles = External entities / Data Stores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9728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Phase — ER Diagram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822960"/>
            <a:ext cx="2194560" cy="365760"/>
          </a:xfrm>
          <a:prstGeom prst="rect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28600" y="87782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FARMER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2880" y="1188720"/>
            <a:ext cx="2194560" cy="27432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8" name="Text 6"/>
          <p:cNvSpPr/>
          <p:nvPr/>
        </p:nvSpPr>
        <p:spPr>
          <a:xfrm>
            <a:off x="256032" y="1234440"/>
            <a:ext cx="2057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🔑 farmer_id (PK)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82880" y="1481328"/>
            <a:ext cx="219456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" y="1527048"/>
            <a:ext cx="2057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name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82880" y="1773936"/>
            <a:ext cx="2194560" cy="27432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2" name="Text 10"/>
          <p:cNvSpPr/>
          <p:nvPr/>
        </p:nvSpPr>
        <p:spPr>
          <a:xfrm>
            <a:off x="256032" y="1819656"/>
            <a:ext cx="2057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email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82880" y="2066544"/>
            <a:ext cx="219456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256032" y="2112264"/>
            <a:ext cx="2057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location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82880" y="2359152"/>
            <a:ext cx="2194560" cy="27432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6" name="Text 14"/>
          <p:cNvSpPr/>
          <p:nvPr/>
        </p:nvSpPr>
        <p:spPr>
          <a:xfrm>
            <a:off x="256032" y="2404872"/>
            <a:ext cx="2057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phone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474720" y="822960"/>
            <a:ext cx="2194560" cy="365760"/>
          </a:xfrm>
          <a:prstGeom prst="rect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520440" y="87782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DIAGNOSIS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74720" y="1188720"/>
            <a:ext cx="2194560" cy="27432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0" name="Text 18"/>
          <p:cNvSpPr/>
          <p:nvPr/>
        </p:nvSpPr>
        <p:spPr>
          <a:xfrm>
            <a:off x="3547872" y="1234440"/>
            <a:ext cx="2057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🔑 diag_id (PK)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474720" y="1481328"/>
            <a:ext cx="219456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3547872" y="1527048"/>
            <a:ext cx="2057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🔗 farmer_id (FK)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474720" y="1773936"/>
            <a:ext cx="2194560" cy="27432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4" name="Text 22"/>
          <p:cNvSpPr/>
          <p:nvPr/>
        </p:nvSpPr>
        <p:spPr>
          <a:xfrm>
            <a:off x="3547872" y="1819656"/>
            <a:ext cx="2057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🔗 image_id (FK)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474720" y="2066544"/>
            <a:ext cx="219456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3547872" y="2112264"/>
            <a:ext cx="2057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disease_name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474720" y="2359152"/>
            <a:ext cx="2194560" cy="27432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8" name="Text 26"/>
          <p:cNvSpPr/>
          <p:nvPr/>
        </p:nvSpPr>
        <p:spPr>
          <a:xfrm>
            <a:off x="3547872" y="2404872"/>
            <a:ext cx="2057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confidence_score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474720" y="2651760"/>
            <a:ext cx="219456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3547872" y="2697480"/>
            <a:ext cx="2057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severity_level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474720" y="2944368"/>
            <a:ext cx="2194560" cy="27432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32" name="Text 30"/>
          <p:cNvSpPr/>
          <p:nvPr/>
        </p:nvSpPr>
        <p:spPr>
          <a:xfrm>
            <a:off x="3547872" y="2990088"/>
            <a:ext cx="2057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timestamp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766560" y="822960"/>
            <a:ext cx="2194560" cy="365760"/>
          </a:xfrm>
          <a:prstGeom prst="rect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812280" y="87782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DISEASE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766560" y="1188720"/>
            <a:ext cx="2194560" cy="27432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36" name="Text 34"/>
          <p:cNvSpPr/>
          <p:nvPr/>
        </p:nvSpPr>
        <p:spPr>
          <a:xfrm>
            <a:off x="6839712" y="1234440"/>
            <a:ext cx="2057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🔑 disease_id (PK)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6766560" y="1481328"/>
            <a:ext cx="219456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6839712" y="1527048"/>
            <a:ext cx="2057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disease_name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766560" y="1773936"/>
            <a:ext cx="2194560" cy="27432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40" name="Text 38"/>
          <p:cNvSpPr/>
          <p:nvPr/>
        </p:nvSpPr>
        <p:spPr>
          <a:xfrm>
            <a:off x="6839712" y="1819656"/>
            <a:ext cx="2057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category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766560" y="2066544"/>
            <a:ext cx="219456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6839712" y="2112264"/>
            <a:ext cx="2057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treatment_advice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766560" y="2359152"/>
            <a:ext cx="2194560" cy="27432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44" name="Text 42"/>
          <p:cNvSpPr/>
          <p:nvPr/>
        </p:nvSpPr>
        <p:spPr>
          <a:xfrm>
            <a:off x="6839712" y="2404872"/>
            <a:ext cx="2057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severity_rules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182880" y="3200400"/>
            <a:ext cx="2194560" cy="365760"/>
          </a:xfrm>
          <a:prstGeom prst="rect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228600" y="325526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LEAF_IMAGE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182880" y="3566160"/>
            <a:ext cx="2194560" cy="27432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48" name="Text 46"/>
          <p:cNvSpPr/>
          <p:nvPr/>
        </p:nvSpPr>
        <p:spPr>
          <a:xfrm>
            <a:off x="256032" y="3611880"/>
            <a:ext cx="2057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🔑 image_id (PK)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182880" y="3858768"/>
            <a:ext cx="219456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0" name="Text 48"/>
          <p:cNvSpPr/>
          <p:nvPr/>
        </p:nvSpPr>
        <p:spPr>
          <a:xfrm>
            <a:off x="256032" y="3904488"/>
            <a:ext cx="2057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🔗 farmer_id (FK)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182880" y="4151376"/>
            <a:ext cx="2194560" cy="27432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52" name="Text 50"/>
          <p:cNvSpPr/>
          <p:nvPr/>
        </p:nvSpPr>
        <p:spPr>
          <a:xfrm>
            <a:off x="256032" y="4197096"/>
            <a:ext cx="2057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file_path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182880" y="4443984"/>
            <a:ext cx="219456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Text 52"/>
          <p:cNvSpPr/>
          <p:nvPr/>
        </p:nvSpPr>
        <p:spPr>
          <a:xfrm>
            <a:off x="256032" y="4489704"/>
            <a:ext cx="2057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capture_date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182880" y="4736592"/>
            <a:ext cx="2194560" cy="27432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56" name="Text 54"/>
          <p:cNvSpPr/>
          <p:nvPr/>
        </p:nvSpPr>
        <p:spPr>
          <a:xfrm>
            <a:off x="256032" y="4782312"/>
            <a:ext cx="2057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preprocessed_path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6766560" y="3200400"/>
            <a:ext cx="2194560" cy="365760"/>
          </a:xfrm>
          <a:prstGeom prst="rect">
            <a:avLst/>
          </a:prstGeom>
          <a:solidFill>
            <a:srgbClr val="2C5F2D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6812280" y="3255264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RECOMMENDATION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6766560" y="3566160"/>
            <a:ext cx="2194560" cy="27432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60" name="Text 58"/>
          <p:cNvSpPr/>
          <p:nvPr/>
        </p:nvSpPr>
        <p:spPr>
          <a:xfrm>
            <a:off x="6839712" y="3611880"/>
            <a:ext cx="2057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🔑 rec_id (PK)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6766560" y="3858768"/>
            <a:ext cx="219456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2" name="Text 60"/>
          <p:cNvSpPr/>
          <p:nvPr/>
        </p:nvSpPr>
        <p:spPr>
          <a:xfrm>
            <a:off x="6839712" y="3904488"/>
            <a:ext cx="2057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🔗 diag_id (FK)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6766560" y="4151376"/>
            <a:ext cx="2194560" cy="27432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64" name="Text 62"/>
          <p:cNvSpPr/>
          <p:nvPr/>
        </p:nvSpPr>
        <p:spPr>
          <a:xfrm>
            <a:off x="6839712" y="4197096"/>
            <a:ext cx="2057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🔗 disease_id (FK)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6766560" y="4443984"/>
            <a:ext cx="219456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6" name="Text 64"/>
          <p:cNvSpPr/>
          <p:nvPr/>
        </p:nvSpPr>
        <p:spPr>
          <a:xfrm>
            <a:off x="6839712" y="4489704"/>
            <a:ext cx="2057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advice_text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6766560" y="4736592"/>
            <a:ext cx="2194560" cy="27432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68" name="Text 66"/>
          <p:cNvSpPr/>
          <p:nvPr/>
        </p:nvSpPr>
        <p:spPr>
          <a:xfrm>
            <a:off x="6839712" y="4782312"/>
            <a:ext cx="2057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pesticide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6766560" y="5029200"/>
            <a:ext cx="219456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0" name="Text 68"/>
          <p:cNvSpPr/>
          <p:nvPr/>
        </p:nvSpPr>
        <p:spPr>
          <a:xfrm>
            <a:off x="6839712" y="5074920"/>
            <a:ext cx="2057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follow_up_days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2468880" y="1463040"/>
            <a:ext cx="1371600" cy="365760"/>
          </a:xfrm>
          <a:prstGeom prst="ellipse">
            <a:avLst/>
          </a:prstGeom>
          <a:solidFill>
            <a:srgbClr val="97BC6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2" name="Text 70"/>
          <p:cNvSpPr/>
          <p:nvPr/>
        </p:nvSpPr>
        <p:spPr>
          <a:xfrm>
            <a:off x="2514600" y="1536192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C1A"/>
                </a:solidFill>
              </a:rPr>
              <a:t>submits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A3C1A"/>
                </a:solidFill>
              </a:rPr>
              <a:t>1:N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5715000" y="1463040"/>
            <a:ext cx="1371600" cy="365760"/>
          </a:xfrm>
          <a:prstGeom prst="ellipse">
            <a:avLst/>
          </a:prstGeom>
          <a:solidFill>
            <a:srgbClr val="97BC6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4" name="Text 72"/>
          <p:cNvSpPr/>
          <p:nvPr/>
        </p:nvSpPr>
        <p:spPr>
          <a:xfrm>
            <a:off x="5760720" y="1536192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C1A"/>
                </a:solidFill>
              </a:rPr>
              <a:t>classified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A3C1A"/>
                </a:solidFill>
              </a:rPr>
              <a:t>by 1:N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2468880" y="3566160"/>
            <a:ext cx="1371600" cy="365760"/>
          </a:xfrm>
          <a:prstGeom prst="ellipse">
            <a:avLst/>
          </a:prstGeom>
          <a:solidFill>
            <a:srgbClr val="97BC6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6" name="Text 74"/>
          <p:cNvSpPr/>
          <p:nvPr/>
        </p:nvSpPr>
        <p:spPr>
          <a:xfrm>
            <a:off x="2514600" y="3639312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C1A"/>
                </a:solidFill>
              </a:rPr>
              <a:t>has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A3C1A"/>
                </a:solidFill>
              </a:rPr>
              <a:t>1:N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5715000" y="3566160"/>
            <a:ext cx="1371600" cy="365760"/>
          </a:xfrm>
          <a:prstGeom prst="ellipse">
            <a:avLst/>
          </a:prstGeom>
          <a:solidFill>
            <a:srgbClr val="97BC62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8" name="Text 76"/>
          <p:cNvSpPr/>
          <p:nvPr/>
        </p:nvSpPr>
        <p:spPr>
          <a:xfrm>
            <a:off x="5760720" y="3639312"/>
            <a:ext cx="1280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3C1A"/>
                </a:solidFill>
              </a:rPr>
              <a:t>generates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A3C1A"/>
                </a:solidFill>
              </a:rPr>
              <a:t>1:N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2377440" y="1645920"/>
            <a:ext cx="91440" cy="0"/>
          </a:xfrm>
          <a:prstGeom prst="line">
            <a:avLst/>
          </a:prstGeom>
          <a:noFill/>
          <a:ln w="12700">
            <a:solidFill>
              <a:srgbClr val="4A8B4A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3520440" y="1645920"/>
            <a:ext cx="365760" cy="0"/>
          </a:xfrm>
          <a:prstGeom prst="line">
            <a:avLst/>
          </a:prstGeom>
          <a:noFill/>
          <a:ln w="12700">
            <a:solidFill>
              <a:srgbClr val="4A8B4A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669280" y="1645920"/>
            <a:ext cx="45720" cy="0"/>
          </a:xfrm>
          <a:prstGeom prst="line">
            <a:avLst/>
          </a:prstGeom>
          <a:noFill/>
          <a:ln w="12700">
            <a:solidFill>
              <a:srgbClr val="4A8B4A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086600" y="1645920"/>
            <a:ext cx="228600" cy="0"/>
          </a:xfrm>
          <a:prstGeom prst="line">
            <a:avLst/>
          </a:prstGeom>
          <a:noFill/>
          <a:ln w="12700">
            <a:solidFill>
              <a:srgbClr val="4A8B4A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280160" y="2240280"/>
            <a:ext cx="0" cy="960120"/>
          </a:xfrm>
          <a:prstGeom prst="line">
            <a:avLst/>
          </a:prstGeom>
          <a:noFill/>
          <a:ln w="12700">
            <a:solidFill>
              <a:srgbClr val="4A8B4A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280160" y="2240280"/>
            <a:ext cx="1188720" cy="0"/>
          </a:xfrm>
          <a:prstGeom prst="line">
            <a:avLst/>
          </a:prstGeom>
          <a:noFill/>
          <a:ln w="12700">
            <a:solidFill>
              <a:srgbClr val="4A8B4A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7863840" y="2240280"/>
            <a:ext cx="0" cy="960120"/>
          </a:xfrm>
          <a:prstGeom prst="line">
            <a:avLst/>
          </a:prstGeom>
          <a:noFill/>
          <a:ln w="12700">
            <a:solidFill>
              <a:srgbClr val="4A8B4A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5715000" y="2240280"/>
            <a:ext cx="2148840" cy="0"/>
          </a:xfrm>
          <a:prstGeom prst="line">
            <a:avLst/>
          </a:prstGeom>
          <a:noFill/>
          <a:ln w="12700">
            <a:solidFill>
              <a:srgbClr val="4A8B4A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97BC6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9144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09728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Proposed Methods and Algorithms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256032" y="822960"/>
            <a:ext cx="4297680" cy="20299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56032" y="822960"/>
            <a:ext cx="4297680" cy="420624"/>
          </a:xfrm>
          <a:prstGeom prst="rect">
            <a:avLst/>
          </a:prstGeom>
          <a:solidFill>
            <a:srgbClr val="2C5F2D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896112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67512" y="905256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CNN Architecture</a:t>
            </a:r>
            <a:endParaRPr lang="en-US" sz="12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353312"/>
            <a:ext cx="164592" cy="16459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85216" y="1316736"/>
            <a:ext cx="3858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Multiple convolutional layers learning low-to-high level visual features</a:t>
            </a:r>
            <a:endParaRPr lang="en-US" sz="9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746504"/>
            <a:ext cx="164592" cy="16459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85216" y="1709928"/>
            <a:ext cx="3858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Batch Normalization + Dropout layers to prevent overfitting</a:t>
            </a:r>
            <a:endParaRPr lang="en-US" sz="9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2139696"/>
            <a:ext cx="164592" cy="16459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85216" y="2103120"/>
            <a:ext cx="3858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Max Pooling reduces spatial dimensions while retaining key features</a:t>
            </a:r>
            <a:endParaRPr lang="en-US" sz="95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2532888"/>
            <a:ext cx="164592" cy="164592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585216" y="2496312"/>
            <a:ext cx="3858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Dense layers with Softmax output for multi-class disease classification</a:t>
            </a:r>
            <a:endParaRPr lang="en-US" sz="950" dirty="0"/>
          </a:p>
        </p:txBody>
      </p:sp>
      <p:sp>
        <p:nvSpPr>
          <p:cNvPr id="18" name="Shape 10"/>
          <p:cNvSpPr/>
          <p:nvPr/>
        </p:nvSpPr>
        <p:spPr>
          <a:xfrm>
            <a:off x="4800600" y="822960"/>
            <a:ext cx="4297680" cy="20299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1"/>
          <p:cNvSpPr/>
          <p:nvPr/>
        </p:nvSpPr>
        <p:spPr>
          <a:xfrm>
            <a:off x="4800600" y="822960"/>
            <a:ext cx="4297680" cy="420624"/>
          </a:xfrm>
          <a:prstGeom prst="rect">
            <a:avLst/>
          </a:prstGeom>
          <a:solidFill>
            <a:srgbClr val="4A8B4A"/>
          </a:solidFill>
          <a:ln/>
        </p:spPr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3752" y="896112"/>
            <a:ext cx="274320" cy="27432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5212080" y="905256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Training Methodology</a:t>
            </a:r>
            <a:endParaRPr lang="en-US" sz="1200" dirty="0"/>
          </a:p>
        </p:txBody>
      </p:sp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10328" y="1353312"/>
            <a:ext cx="164592" cy="164592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5129784" y="1316736"/>
            <a:ext cx="3858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Dataset: PlantVillage — 54,306 images across 38 disease categories</a:t>
            </a:r>
            <a:endParaRPr lang="en-US" sz="950" dirty="0"/>
          </a:p>
        </p:txBody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10328" y="1746504"/>
            <a:ext cx="164592" cy="164592"/>
          </a:xfrm>
          <a:prstGeom prst="rect">
            <a:avLst/>
          </a:prstGeom>
        </p:spPr>
      </p:pic>
      <p:sp>
        <p:nvSpPr>
          <p:cNvPr id="25" name="Text 14"/>
          <p:cNvSpPr/>
          <p:nvPr/>
        </p:nvSpPr>
        <p:spPr>
          <a:xfrm>
            <a:off x="5129784" y="1709928"/>
            <a:ext cx="3858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Data augmentation: flips, rotation, zoom, brightness variation</a:t>
            </a:r>
            <a:endParaRPr lang="en-US" sz="950" dirty="0"/>
          </a:p>
        </p:txBody>
      </p:sp>
      <p:pic>
        <p:nvPicPr>
          <p:cNvPr id="2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10328" y="2139696"/>
            <a:ext cx="164592" cy="164592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5129784" y="2103120"/>
            <a:ext cx="3858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Optimizer: Adam  |  Loss: Categorical Cross-Entropy</a:t>
            </a:r>
            <a:endParaRPr lang="en-US" sz="950" dirty="0"/>
          </a:p>
        </p:txBody>
      </p:sp>
      <p:pic>
        <p:nvPicPr>
          <p:cNvPr id="2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10328" y="2532888"/>
            <a:ext cx="164592" cy="164592"/>
          </a:xfrm>
          <a:prstGeom prst="rect">
            <a:avLst/>
          </a:prstGeom>
        </p:spPr>
      </p:pic>
      <p:sp>
        <p:nvSpPr>
          <p:cNvPr id="29" name="Text 16"/>
          <p:cNvSpPr/>
          <p:nvPr/>
        </p:nvSpPr>
        <p:spPr>
          <a:xfrm>
            <a:off x="5129784" y="2496312"/>
            <a:ext cx="3858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Metrics: Accuracy, Precision, Recall, F1-Score, Confusion Matrix</a:t>
            </a:r>
            <a:endParaRPr lang="en-US" sz="950" dirty="0"/>
          </a:p>
        </p:txBody>
      </p:sp>
      <p:sp>
        <p:nvSpPr>
          <p:cNvPr id="30" name="Shape 17"/>
          <p:cNvSpPr/>
          <p:nvPr/>
        </p:nvSpPr>
        <p:spPr>
          <a:xfrm>
            <a:off x="256032" y="2971800"/>
            <a:ext cx="4297680" cy="20299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18"/>
          <p:cNvSpPr/>
          <p:nvPr/>
        </p:nvSpPr>
        <p:spPr>
          <a:xfrm>
            <a:off x="256032" y="2971800"/>
            <a:ext cx="4297680" cy="420624"/>
          </a:xfrm>
          <a:prstGeom prst="rect">
            <a:avLst/>
          </a:prstGeom>
          <a:solidFill>
            <a:srgbClr val="3A6F3A"/>
          </a:solidFill>
          <a:ln/>
        </p:spPr>
      </p:sp>
      <p:pic>
        <p:nvPicPr>
          <p:cNvPr id="3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9184" y="3044952"/>
            <a:ext cx="274320" cy="274320"/>
          </a:xfrm>
          <a:prstGeom prst="rect">
            <a:avLst/>
          </a:prstGeom>
        </p:spPr>
      </p:pic>
      <p:sp>
        <p:nvSpPr>
          <p:cNvPr id="33" name="Text 19"/>
          <p:cNvSpPr/>
          <p:nvPr/>
        </p:nvSpPr>
        <p:spPr>
          <a:xfrm>
            <a:off x="667512" y="3054096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Image Preprocessing Pipeline</a:t>
            </a:r>
            <a:endParaRPr lang="en-US" sz="1200" dirty="0"/>
          </a:p>
        </p:txBody>
      </p:sp>
      <p:pic>
        <p:nvPicPr>
          <p:cNvPr id="3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5760" y="3502152"/>
            <a:ext cx="164592" cy="164592"/>
          </a:xfrm>
          <a:prstGeom prst="rect">
            <a:avLst/>
          </a:prstGeom>
        </p:spPr>
      </p:pic>
      <p:sp>
        <p:nvSpPr>
          <p:cNvPr id="35" name="Text 20"/>
          <p:cNvSpPr/>
          <p:nvPr/>
        </p:nvSpPr>
        <p:spPr>
          <a:xfrm>
            <a:off x="585216" y="3465576"/>
            <a:ext cx="3858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Resize all images to uniform 224×224 pixels for CNN input consistency</a:t>
            </a:r>
            <a:endParaRPr lang="en-US" sz="950" dirty="0"/>
          </a:p>
        </p:txBody>
      </p:sp>
      <p:pic>
        <p:nvPicPr>
          <p:cNvPr id="36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65760" y="3895344"/>
            <a:ext cx="164592" cy="164592"/>
          </a:xfrm>
          <a:prstGeom prst="rect">
            <a:avLst/>
          </a:prstGeom>
        </p:spPr>
      </p:pic>
      <p:sp>
        <p:nvSpPr>
          <p:cNvPr id="37" name="Text 21"/>
          <p:cNvSpPr/>
          <p:nvPr/>
        </p:nvSpPr>
        <p:spPr>
          <a:xfrm>
            <a:off x="585216" y="3858768"/>
            <a:ext cx="3858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Pixel normalization to [0,1] range for stable gradient computation</a:t>
            </a:r>
            <a:endParaRPr lang="en-US" sz="950" dirty="0"/>
          </a:p>
        </p:txBody>
      </p:sp>
      <p:pic>
        <p:nvPicPr>
          <p:cNvPr id="38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65760" y="4288536"/>
            <a:ext cx="164592" cy="164592"/>
          </a:xfrm>
          <a:prstGeom prst="rect">
            <a:avLst/>
          </a:prstGeom>
        </p:spPr>
      </p:pic>
      <p:sp>
        <p:nvSpPr>
          <p:cNvPr id="39" name="Text 22"/>
          <p:cNvSpPr/>
          <p:nvPr/>
        </p:nvSpPr>
        <p:spPr>
          <a:xfrm>
            <a:off x="585216" y="4251960"/>
            <a:ext cx="3858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Gaussian blur for noise reduction; background masking to isolate leaf</a:t>
            </a:r>
            <a:endParaRPr lang="en-US" sz="950" dirty="0"/>
          </a:p>
        </p:txBody>
      </p:sp>
      <p:sp>
        <p:nvSpPr>
          <p:cNvPr id="40" name="Shape 23"/>
          <p:cNvSpPr/>
          <p:nvPr/>
        </p:nvSpPr>
        <p:spPr>
          <a:xfrm>
            <a:off x="4800600" y="2971800"/>
            <a:ext cx="4297680" cy="20299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24"/>
          <p:cNvSpPr/>
          <p:nvPr/>
        </p:nvSpPr>
        <p:spPr>
          <a:xfrm>
            <a:off x="4800600" y="2971800"/>
            <a:ext cx="4297680" cy="420624"/>
          </a:xfrm>
          <a:prstGeom prst="rect">
            <a:avLst/>
          </a:prstGeom>
          <a:solidFill>
            <a:srgbClr val="1A3C1A"/>
          </a:solidFill>
          <a:ln/>
        </p:spPr>
      </p:sp>
      <p:pic>
        <p:nvPicPr>
          <p:cNvPr id="42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873752" y="3044952"/>
            <a:ext cx="274320" cy="274320"/>
          </a:xfrm>
          <a:prstGeom prst="rect">
            <a:avLst/>
          </a:prstGeom>
        </p:spPr>
      </p:pic>
      <p:sp>
        <p:nvSpPr>
          <p:cNvPr id="43" name="Text 25"/>
          <p:cNvSpPr/>
          <p:nvPr/>
        </p:nvSpPr>
        <p:spPr>
          <a:xfrm>
            <a:off x="5212080" y="3054096"/>
            <a:ext cx="3794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Explainable AI — Grad-CAM</a:t>
            </a:r>
            <a:endParaRPr lang="en-US" sz="1200" dirty="0"/>
          </a:p>
        </p:txBody>
      </p:sp>
      <p:pic>
        <p:nvPicPr>
          <p:cNvPr id="44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910328" y="3502152"/>
            <a:ext cx="164592" cy="164592"/>
          </a:xfrm>
          <a:prstGeom prst="rect">
            <a:avLst/>
          </a:prstGeom>
        </p:spPr>
      </p:pic>
      <p:sp>
        <p:nvSpPr>
          <p:cNvPr id="45" name="Text 26"/>
          <p:cNvSpPr/>
          <p:nvPr/>
        </p:nvSpPr>
        <p:spPr>
          <a:xfrm>
            <a:off x="5129784" y="3465576"/>
            <a:ext cx="3858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Gradient-weighted Class Activation Mapping (Selvaraju et al., 2017)</a:t>
            </a:r>
            <a:endParaRPr lang="en-US" sz="950" dirty="0"/>
          </a:p>
        </p:txBody>
      </p:sp>
      <p:pic>
        <p:nvPicPr>
          <p:cNvPr id="46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910328" y="3895344"/>
            <a:ext cx="164592" cy="164592"/>
          </a:xfrm>
          <a:prstGeom prst="rect">
            <a:avLst/>
          </a:prstGeom>
        </p:spPr>
      </p:pic>
      <p:sp>
        <p:nvSpPr>
          <p:cNvPr id="47" name="Text 27"/>
          <p:cNvSpPr/>
          <p:nvPr/>
        </p:nvSpPr>
        <p:spPr>
          <a:xfrm>
            <a:off x="5129784" y="3858768"/>
            <a:ext cx="3858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Generates heatmaps showing which regions influenced CNN's prediction</a:t>
            </a:r>
            <a:endParaRPr lang="en-US" sz="950" dirty="0"/>
          </a:p>
        </p:txBody>
      </p:sp>
      <p:pic>
        <p:nvPicPr>
          <p:cNvPr id="48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910328" y="4288536"/>
            <a:ext cx="164592" cy="164592"/>
          </a:xfrm>
          <a:prstGeom prst="rect">
            <a:avLst/>
          </a:prstGeom>
        </p:spPr>
      </p:pic>
      <p:sp>
        <p:nvSpPr>
          <p:cNvPr id="49" name="Text 28"/>
          <p:cNvSpPr/>
          <p:nvPr/>
        </p:nvSpPr>
        <p:spPr>
          <a:xfrm>
            <a:off x="5129784" y="4251960"/>
            <a:ext cx="3858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293B"/>
                </a:solidFill>
              </a:rPr>
              <a:t>Mild &lt;20% area infected  |  Moderate 20–50%  |  Severe &gt;50%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97BC6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9144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09728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 Cases</a:t>
            </a:r>
            <a:endParaRPr lang="en-US" sz="2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804672"/>
          <a:ext cx="8641080" cy="4114800"/>
        </p:xfrm>
        <a:graphic>
          <a:graphicData uri="http://schemas.openxmlformats.org/drawingml/2006/table">
            <a:tbl>
              <a:tblPr/>
              <a:tblGrid>
                <a:gridCol w="548640"/>
                <a:gridCol w="1828800"/>
                <a:gridCol w="1828800"/>
                <a:gridCol w="2926080"/>
                <a:gridCol w="8229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TC#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Test Case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Input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Expected Output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Result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TC01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Valid healthy leaf image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Clear JPG, 224×224px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Healthy — No disease detected, Confidence &gt;95%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C5F2D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TC02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Early Blight infected leaf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Spotted tomato leaf image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Early Blight, Severity: Moderate, Treatment provided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C5F2D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TC03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Late Blight detection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Dark lesion on leaf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Late Blight, Severity: Severe, Grad-CAM overlay shown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C5F2D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TC04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Bacterial Spot detection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Pepper leaf with spots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Bacterial Spot, Severity: Mild, Treatment recommended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C5F2D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TC05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Blurry/low-quality image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Blurred leaf photo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Warning: Low image quality — please recapture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C5F2D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TC06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Non-leaf image input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Photo of a car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Error: Not a plant leaf. Invalid input detected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C5F2D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TC07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Multiple disease symptoms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Leaf with mixed lesions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Primary disease identified + secondary suggestion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C5F2D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TC08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Grad-CAM heatmap output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Any diseased leaf image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</a:rPr>
                        <a:t>Heatmap correctly overlaid on infected leaf region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C5F2D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97BC6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9144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09728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 Analysis — Existing vs Proposed System</a:t>
            </a:r>
            <a:endParaRPr lang="en-US" sz="1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56032" y="804672"/>
          <a:ext cx="8641080" cy="4114800"/>
        </p:xfrm>
        <a:graphic>
          <a:graphicData uri="http://schemas.openxmlformats.org/drawingml/2006/table">
            <a:tbl>
              <a:tblPr/>
              <a:tblGrid>
                <a:gridCol w="2286000"/>
                <a:gridCol w="2103120"/>
                <a:gridCol w="2103120"/>
                <a:gridCol w="21488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C1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Traditional ML (SVM/RF)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AgriLens CNN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Improvement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A01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Classification Accuracy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</a:rPr>
                        <a:t>75–82%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C5F2D"/>
                          </a:solidFill>
                        </a:rPr>
                        <a:t>97–99%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A8B4A"/>
                          </a:solidFill>
                        </a:rPr>
                        <a:t>+17–22%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Precision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</a:rPr>
                        <a:t>71%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C5F2D"/>
                          </a:solidFill>
                        </a:rPr>
                        <a:t>96%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A8B4A"/>
                          </a:solidFill>
                        </a:rPr>
                        <a:t>+25%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Recall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</a:rPr>
                        <a:t>68%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C5F2D"/>
                          </a:solidFill>
                        </a:rPr>
                        <a:t>95%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A8B4A"/>
                          </a:solidFill>
                        </a:rPr>
                        <a:t>+27%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F1-Score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</a:rPr>
                        <a:t>69%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C5F2D"/>
                          </a:solidFill>
                        </a:rPr>
                        <a:t>96%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A8B4A"/>
                          </a:solidFill>
                        </a:rPr>
                        <a:t>+27%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Inference Time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</a:rPr>
                        <a:t>3–5 seconds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C5F2D"/>
                          </a:solidFill>
                        </a:rPr>
                        <a:t>&lt;1 second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A8B4A"/>
                          </a:solidFill>
                        </a:rPr>
                        <a:t>5× faster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No. of Disease Classes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</a:rPr>
                        <a:t>10–15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C5F2D"/>
                          </a:solidFill>
                        </a:rPr>
                        <a:t>38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A8B4A"/>
                          </a:solidFill>
                        </a:rPr>
                        <a:t>+23 classes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Severity Estimation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</a:rPr>
                        <a:t>Not available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C5F2D"/>
                          </a:solidFill>
                        </a:rPr>
                        <a:t>Mild/Mod/Severe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A8B4A"/>
                          </a:solidFill>
                        </a:rPr>
                        <a:t>New feature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Explainability (XAI)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</a:rPr>
                        <a:t>None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C5F2D"/>
                          </a:solidFill>
                        </a:rPr>
                        <a:t>Grad-CAM heatmap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A8B4A"/>
                          </a:solidFill>
                        </a:rPr>
                        <a:t>New feature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</a:rPr>
                        <a:t>Mobile Deployable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</a:rPr>
                        <a:t>No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C5F2D"/>
                          </a:solidFill>
                        </a:rPr>
                        <a:t>Yes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4A8B4A"/>
                          </a:solidFill>
                        </a:rPr>
                        <a:t>New capability</a:t>
                      </a:r>
                      <a:endParaRPr lang="en-US" sz="105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DD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3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097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 Screens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548640"/>
            <a:ext cx="8595360" cy="36576"/>
          </a:xfrm>
          <a:prstGeom prst="rect">
            <a:avLst/>
          </a:prstGeom>
          <a:solidFill>
            <a:srgbClr val="4A8B4A"/>
          </a:solidFill>
          <a:ln/>
        </p:spPr>
      </p:sp>
      <p:sp>
        <p:nvSpPr>
          <p:cNvPr id="5" name="Shape 3"/>
          <p:cNvSpPr/>
          <p:nvPr/>
        </p:nvSpPr>
        <p:spPr>
          <a:xfrm>
            <a:off x="256032" y="685800"/>
            <a:ext cx="1965960" cy="3749040"/>
          </a:xfrm>
          <a:prstGeom prst="roundRect">
            <a:avLst>
              <a:gd name="adj" fmla="val 6977"/>
            </a:avLst>
          </a:prstGeom>
          <a:solidFill>
            <a:srgbClr val="1F3F1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822960"/>
            <a:ext cx="1783080" cy="3200400"/>
          </a:xfrm>
          <a:prstGeom prst="roundRect">
            <a:avLst>
              <a:gd name="adj" fmla="val 4103"/>
            </a:avLst>
          </a:prstGeom>
          <a:solidFill>
            <a:srgbClr val="E8F5E9"/>
          </a:solidFill>
          <a:ln/>
        </p:spPr>
      </p:sp>
      <p:sp>
        <p:nvSpPr>
          <p:cNvPr id="7" name="Shape 5"/>
          <p:cNvSpPr/>
          <p:nvPr/>
        </p:nvSpPr>
        <p:spPr>
          <a:xfrm>
            <a:off x="347472" y="822960"/>
            <a:ext cx="178308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84124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AgriLens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84632" y="1207008"/>
            <a:ext cx="1508760" cy="1097280"/>
          </a:xfrm>
          <a:prstGeom prst="rect">
            <a:avLst/>
          </a:prstGeom>
          <a:solidFill>
            <a:srgbClr val="4A8B4A">
              <a:alpha val="50000"/>
            </a:srgbClr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1389888"/>
            <a:ext cx="731520" cy="73152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65760" y="2395728"/>
            <a:ext cx="173736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393192" y="2441448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Select or capture leaf image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65760" y="2779776"/>
            <a:ext cx="1737360" cy="347472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4" name="Text 11"/>
          <p:cNvSpPr/>
          <p:nvPr/>
        </p:nvSpPr>
        <p:spPr>
          <a:xfrm>
            <a:off x="393192" y="2825496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Click 'Analyze' button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365760" y="3163824"/>
            <a:ext cx="173736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393192" y="3209544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Progress bar shown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256032" y="452628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7BC62"/>
                </a:solidFill>
              </a:rPr>
              <a:t>Upload Interface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2432304" y="685800"/>
            <a:ext cx="1965960" cy="3749040"/>
          </a:xfrm>
          <a:prstGeom prst="roundRect">
            <a:avLst>
              <a:gd name="adj" fmla="val 6977"/>
            </a:avLst>
          </a:prstGeom>
          <a:solidFill>
            <a:srgbClr val="1F3F1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2523744" y="822960"/>
            <a:ext cx="1783080" cy="3200400"/>
          </a:xfrm>
          <a:prstGeom prst="roundRect">
            <a:avLst>
              <a:gd name="adj" fmla="val 4103"/>
            </a:avLst>
          </a:prstGeom>
          <a:solidFill>
            <a:srgbClr val="E8F5E9"/>
          </a:solidFill>
          <a:ln/>
        </p:spPr>
      </p:sp>
      <p:sp>
        <p:nvSpPr>
          <p:cNvPr id="20" name="Shape 17"/>
          <p:cNvSpPr/>
          <p:nvPr/>
        </p:nvSpPr>
        <p:spPr>
          <a:xfrm>
            <a:off x="2523744" y="822960"/>
            <a:ext cx="178308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1" name="Text 18"/>
          <p:cNvSpPr/>
          <p:nvPr/>
        </p:nvSpPr>
        <p:spPr>
          <a:xfrm>
            <a:off x="2542032" y="84124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AgriLens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2660904" y="1207008"/>
            <a:ext cx="1508760" cy="1097280"/>
          </a:xfrm>
          <a:prstGeom prst="rect">
            <a:avLst/>
          </a:prstGeom>
          <a:solidFill>
            <a:srgbClr val="4A8B4A">
              <a:alpha val="50000"/>
            </a:srgbClr>
          </a:solidFill>
          <a:ln/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6664" y="1389888"/>
            <a:ext cx="731520" cy="731520"/>
          </a:xfrm>
          <a:prstGeom prst="rect">
            <a:avLst/>
          </a:prstGeom>
        </p:spPr>
      </p:pic>
      <p:sp>
        <p:nvSpPr>
          <p:cNvPr id="24" name="Shape 20"/>
          <p:cNvSpPr/>
          <p:nvPr/>
        </p:nvSpPr>
        <p:spPr>
          <a:xfrm>
            <a:off x="2542032" y="2395728"/>
            <a:ext cx="173736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1"/>
          <p:cNvSpPr/>
          <p:nvPr/>
        </p:nvSpPr>
        <p:spPr>
          <a:xfrm>
            <a:off x="2569464" y="2441448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Disease name + confidence</a:t>
            </a:r>
            <a:endParaRPr lang="en-US" sz="800" dirty="0"/>
          </a:p>
        </p:txBody>
      </p:sp>
      <p:sp>
        <p:nvSpPr>
          <p:cNvPr id="26" name="Shape 22"/>
          <p:cNvSpPr/>
          <p:nvPr/>
        </p:nvSpPr>
        <p:spPr>
          <a:xfrm>
            <a:off x="2542032" y="2779776"/>
            <a:ext cx="1737360" cy="347472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7" name="Text 23"/>
          <p:cNvSpPr/>
          <p:nvPr/>
        </p:nvSpPr>
        <p:spPr>
          <a:xfrm>
            <a:off x="2569464" y="2825496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Severity: Mild/Mod/Severe</a:t>
            </a:r>
            <a:endParaRPr lang="en-US" sz="800" dirty="0"/>
          </a:p>
        </p:txBody>
      </p:sp>
      <p:sp>
        <p:nvSpPr>
          <p:cNvPr id="28" name="Shape 24"/>
          <p:cNvSpPr/>
          <p:nvPr/>
        </p:nvSpPr>
        <p:spPr>
          <a:xfrm>
            <a:off x="2542032" y="3163824"/>
            <a:ext cx="173736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5"/>
          <p:cNvSpPr/>
          <p:nvPr/>
        </p:nvSpPr>
        <p:spPr>
          <a:xfrm>
            <a:off x="2569464" y="3209544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Color-coded severity badge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2432304" y="452628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7BC62"/>
                </a:solidFill>
              </a:rPr>
              <a:t>Detection Result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4608576" y="685800"/>
            <a:ext cx="1965960" cy="3749040"/>
          </a:xfrm>
          <a:prstGeom prst="roundRect">
            <a:avLst>
              <a:gd name="adj" fmla="val 6977"/>
            </a:avLst>
          </a:prstGeom>
          <a:solidFill>
            <a:srgbClr val="1F3F1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28"/>
          <p:cNvSpPr/>
          <p:nvPr/>
        </p:nvSpPr>
        <p:spPr>
          <a:xfrm>
            <a:off x="4700016" y="822960"/>
            <a:ext cx="1783080" cy="3200400"/>
          </a:xfrm>
          <a:prstGeom prst="roundRect">
            <a:avLst>
              <a:gd name="adj" fmla="val 4103"/>
            </a:avLst>
          </a:prstGeom>
          <a:solidFill>
            <a:srgbClr val="E8F5E9"/>
          </a:solidFill>
          <a:ln/>
        </p:spPr>
      </p:sp>
      <p:sp>
        <p:nvSpPr>
          <p:cNvPr id="33" name="Shape 29"/>
          <p:cNvSpPr/>
          <p:nvPr/>
        </p:nvSpPr>
        <p:spPr>
          <a:xfrm>
            <a:off x="4700016" y="822960"/>
            <a:ext cx="178308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4" name="Text 30"/>
          <p:cNvSpPr/>
          <p:nvPr/>
        </p:nvSpPr>
        <p:spPr>
          <a:xfrm>
            <a:off x="4718304" y="84124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AgriLens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4837176" y="1207008"/>
            <a:ext cx="1508760" cy="1097280"/>
          </a:xfrm>
          <a:prstGeom prst="rect">
            <a:avLst/>
          </a:prstGeom>
          <a:solidFill>
            <a:srgbClr val="4A8B4A">
              <a:alpha val="50000"/>
            </a:srgbClr>
          </a:solidFill>
          <a:ln/>
        </p:spPr>
      </p:sp>
      <p:pic>
        <p:nvPicPr>
          <p:cNvPr id="3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2936" y="1389888"/>
            <a:ext cx="731520" cy="731520"/>
          </a:xfrm>
          <a:prstGeom prst="rect">
            <a:avLst/>
          </a:prstGeom>
        </p:spPr>
      </p:pic>
      <p:sp>
        <p:nvSpPr>
          <p:cNvPr id="37" name="Shape 32"/>
          <p:cNvSpPr/>
          <p:nvPr/>
        </p:nvSpPr>
        <p:spPr>
          <a:xfrm>
            <a:off x="4718304" y="2395728"/>
            <a:ext cx="173736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Text 33"/>
          <p:cNvSpPr/>
          <p:nvPr/>
        </p:nvSpPr>
        <p:spPr>
          <a:xfrm>
            <a:off x="4745736" y="2441448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Original leaf on left</a:t>
            </a:r>
            <a:endParaRPr lang="en-US" sz="800" dirty="0"/>
          </a:p>
        </p:txBody>
      </p:sp>
      <p:sp>
        <p:nvSpPr>
          <p:cNvPr id="39" name="Shape 34"/>
          <p:cNvSpPr/>
          <p:nvPr/>
        </p:nvSpPr>
        <p:spPr>
          <a:xfrm>
            <a:off x="4718304" y="2779776"/>
            <a:ext cx="1737360" cy="347472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40" name="Text 35"/>
          <p:cNvSpPr/>
          <p:nvPr/>
        </p:nvSpPr>
        <p:spPr>
          <a:xfrm>
            <a:off x="4745736" y="2825496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Heatmap overlay on right</a:t>
            </a:r>
            <a:endParaRPr lang="en-US" sz="800" dirty="0"/>
          </a:p>
        </p:txBody>
      </p:sp>
      <p:sp>
        <p:nvSpPr>
          <p:cNvPr id="41" name="Shape 36"/>
          <p:cNvSpPr/>
          <p:nvPr/>
        </p:nvSpPr>
        <p:spPr>
          <a:xfrm>
            <a:off x="4718304" y="3163824"/>
            <a:ext cx="173736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Text 37"/>
          <p:cNvSpPr/>
          <p:nvPr/>
        </p:nvSpPr>
        <p:spPr>
          <a:xfrm>
            <a:off x="4745736" y="3209544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Red = high infection area</a:t>
            </a:r>
            <a:endParaRPr lang="en-US" sz="800" dirty="0"/>
          </a:p>
        </p:txBody>
      </p:sp>
      <p:sp>
        <p:nvSpPr>
          <p:cNvPr id="43" name="Text 38"/>
          <p:cNvSpPr/>
          <p:nvPr/>
        </p:nvSpPr>
        <p:spPr>
          <a:xfrm>
            <a:off x="4608576" y="452628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7BC62"/>
                </a:solidFill>
              </a:rPr>
              <a:t>Grad-CAM Heatmap</a:t>
            </a:r>
            <a:endParaRPr lang="en-US" sz="950" dirty="0"/>
          </a:p>
        </p:txBody>
      </p:sp>
      <p:sp>
        <p:nvSpPr>
          <p:cNvPr id="44" name="Shape 39"/>
          <p:cNvSpPr/>
          <p:nvPr/>
        </p:nvSpPr>
        <p:spPr>
          <a:xfrm>
            <a:off x="6784848" y="685800"/>
            <a:ext cx="1965960" cy="3749040"/>
          </a:xfrm>
          <a:prstGeom prst="roundRect">
            <a:avLst>
              <a:gd name="adj" fmla="val 6977"/>
            </a:avLst>
          </a:prstGeom>
          <a:solidFill>
            <a:srgbClr val="1F3F1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Shape 40"/>
          <p:cNvSpPr/>
          <p:nvPr/>
        </p:nvSpPr>
        <p:spPr>
          <a:xfrm>
            <a:off x="6876288" y="822960"/>
            <a:ext cx="1783080" cy="3200400"/>
          </a:xfrm>
          <a:prstGeom prst="roundRect">
            <a:avLst>
              <a:gd name="adj" fmla="val 4103"/>
            </a:avLst>
          </a:prstGeom>
          <a:solidFill>
            <a:srgbClr val="E8F5E9"/>
          </a:solidFill>
          <a:ln/>
        </p:spPr>
      </p:sp>
      <p:sp>
        <p:nvSpPr>
          <p:cNvPr id="46" name="Shape 41"/>
          <p:cNvSpPr/>
          <p:nvPr/>
        </p:nvSpPr>
        <p:spPr>
          <a:xfrm>
            <a:off x="6876288" y="822960"/>
            <a:ext cx="1783080" cy="32004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47" name="Text 42"/>
          <p:cNvSpPr/>
          <p:nvPr/>
        </p:nvSpPr>
        <p:spPr>
          <a:xfrm>
            <a:off x="6894576" y="84124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AgriLens</a:t>
            </a:r>
            <a:endParaRPr lang="en-US" sz="900" dirty="0"/>
          </a:p>
        </p:txBody>
      </p:sp>
      <p:sp>
        <p:nvSpPr>
          <p:cNvPr id="48" name="Shape 43"/>
          <p:cNvSpPr/>
          <p:nvPr/>
        </p:nvSpPr>
        <p:spPr>
          <a:xfrm>
            <a:off x="7013448" y="1207008"/>
            <a:ext cx="1508760" cy="1097280"/>
          </a:xfrm>
          <a:prstGeom prst="rect">
            <a:avLst/>
          </a:prstGeom>
          <a:solidFill>
            <a:srgbClr val="4A8B4A">
              <a:alpha val="50000"/>
            </a:srgbClr>
          </a:solidFill>
          <a:ln/>
        </p:spPr>
      </p:sp>
      <p:pic>
        <p:nvPicPr>
          <p:cNvPr id="4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9208" y="1389888"/>
            <a:ext cx="731520" cy="731520"/>
          </a:xfrm>
          <a:prstGeom prst="rect">
            <a:avLst/>
          </a:prstGeom>
        </p:spPr>
      </p:pic>
      <p:sp>
        <p:nvSpPr>
          <p:cNvPr id="50" name="Shape 44"/>
          <p:cNvSpPr/>
          <p:nvPr/>
        </p:nvSpPr>
        <p:spPr>
          <a:xfrm>
            <a:off x="6894576" y="2395728"/>
            <a:ext cx="173736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1" name="Text 45"/>
          <p:cNvSpPr/>
          <p:nvPr/>
        </p:nvSpPr>
        <p:spPr>
          <a:xfrm>
            <a:off x="6922008" y="2441448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Recommended pesticides</a:t>
            </a:r>
            <a:endParaRPr lang="en-US" sz="800" dirty="0"/>
          </a:p>
        </p:txBody>
      </p:sp>
      <p:sp>
        <p:nvSpPr>
          <p:cNvPr id="52" name="Shape 46"/>
          <p:cNvSpPr/>
          <p:nvPr/>
        </p:nvSpPr>
        <p:spPr>
          <a:xfrm>
            <a:off x="6894576" y="2779776"/>
            <a:ext cx="1737360" cy="347472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53" name="Text 47"/>
          <p:cNvSpPr/>
          <p:nvPr/>
        </p:nvSpPr>
        <p:spPr>
          <a:xfrm>
            <a:off x="6922008" y="2825496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Application frequency</a:t>
            </a:r>
            <a:endParaRPr lang="en-US" sz="800" dirty="0"/>
          </a:p>
        </p:txBody>
      </p:sp>
      <p:sp>
        <p:nvSpPr>
          <p:cNvPr id="54" name="Shape 48"/>
          <p:cNvSpPr/>
          <p:nvPr/>
        </p:nvSpPr>
        <p:spPr>
          <a:xfrm>
            <a:off x="6894576" y="3163824"/>
            <a:ext cx="1737360" cy="34747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5" name="Text 49"/>
          <p:cNvSpPr/>
          <p:nvPr/>
        </p:nvSpPr>
        <p:spPr>
          <a:xfrm>
            <a:off x="6922008" y="3209544"/>
            <a:ext cx="1691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</a:rPr>
              <a:t>Follow-up checklist</a:t>
            </a:r>
            <a:endParaRPr lang="en-US" sz="800" dirty="0"/>
          </a:p>
        </p:txBody>
      </p:sp>
      <p:sp>
        <p:nvSpPr>
          <p:cNvPr id="56" name="Text 50"/>
          <p:cNvSpPr/>
          <p:nvPr/>
        </p:nvSpPr>
        <p:spPr>
          <a:xfrm>
            <a:off x="6784848" y="452628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97BC62"/>
                </a:solidFill>
              </a:rPr>
              <a:t>Treatment Report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97BC62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91440"/>
            <a:ext cx="411480" cy="411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09728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256032" y="822960"/>
            <a:ext cx="8641080" cy="566928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56032" y="822960"/>
            <a:ext cx="457200" cy="56692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8" name="Text 5"/>
          <p:cNvSpPr/>
          <p:nvPr/>
        </p:nvSpPr>
        <p:spPr>
          <a:xfrm>
            <a:off x="256032" y="96012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7BC62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04672" y="914400"/>
            <a:ext cx="8001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AgriLens demonstrates deep learning can effectively automate plant disease detection with 97–99% accuracy on 38 disease classes.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56032" y="1481328"/>
            <a:ext cx="864108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56032" y="1481328"/>
            <a:ext cx="457200" cy="56692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2" name="Text 9"/>
          <p:cNvSpPr/>
          <p:nvPr/>
        </p:nvSpPr>
        <p:spPr>
          <a:xfrm>
            <a:off x="256032" y="1618488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7BC62"/>
                </a:solidFill>
              </a:rPr>
              <a:t>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04672" y="1572768"/>
            <a:ext cx="8001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CNN-based approach significantly overcomes limitations of manual expert inspection, reducing diagnosis time from hours to under 1 second.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56032" y="2139696"/>
            <a:ext cx="8641080" cy="566928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56032" y="2139696"/>
            <a:ext cx="457200" cy="56692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16" name="Text 13"/>
          <p:cNvSpPr/>
          <p:nvPr/>
        </p:nvSpPr>
        <p:spPr>
          <a:xfrm>
            <a:off x="256032" y="2276856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7BC62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04672" y="2231136"/>
            <a:ext cx="8001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Severity estimation (Mild/Moderate/Severe) provides actionable insights, enabling timely and targeted crop management interventions.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256032" y="2798064"/>
            <a:ext cx="864108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256032" y="2798064"/>
            <a:ext cx="457200" cy="56692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0" name="Text 17"/>
          <p:cNvSpPr/>
          <p:nvPr/>
        </p:nvSpPr>
        <p:spPr>
          <a:xfrm>
            <a:off x="256032" y="2935224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7BC62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04672" y="2889504"/>
            <a:ext cx="8001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Explainable AI (Grad-CAM) enhances model transparency, making AI predictions interpretable and trustworthy for farmers.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256032" y="3456432"/>
            <a:ext cx="8641080" cy="566928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256032" y="3456432"/>
            <a:ext cx="457200" cy="56692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4" name="Text 21"/>
          <p:cNvSpPr/>
          <p:nvPr/>
        </p:nvSpPr>
        <p:spPr>
          <a:xfrm>
            <a:off x="256032" y="3593592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7BC62"/>
                </a:solidFill>
              </a:rPr>
              <a:t>5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804672" y="3547872"/>
            <a:ext cx="8001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AgriLens is scalable and readily adaptable for additional crop types with incremental model retraining on new data.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256032" y="4114800"/>
            <a:ext cx="864108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256032" y="4114800"/>
            <a:ext cx="457200" cy="566928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28" name="Text 25"/>
          <p:cNvSpPr/>
          <p:nvPr/>
        </p:nvSpPr>
        <p:spPr>
          <a:xfrm>
            <a:off x="256032" y="4251960"/>
            <a:ext cx="457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7BC62"/>
                </a:solidFill>
              </a:rPr>
              <a:t>6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804672" y="4206240"/>
            <a:ext cx="8001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</a:rPr>
              <a:t>The system directly supports Precision Agriculture goals and contributes to global sustainable food security.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3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0972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Scope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548640"/>
            <a:ext cx="8595360" cy="36576"/>
          </a:xfrm>
          <a:prstGeom prst="rect">
            <a:avLst/>
          </a:prstGeom>
          <a:solidFill>
            <a:srgbClr val="4A8B4A"/>
          </a:solidFill>
          <a:ln/>
        </p:spPr>
      </p:sp>
      <p:sp>
        <p:nvSpPr>
          <p:cNvPr id="5" name="Shape 3"/>
          <p:cNvSpPr/>
          <p:nvPr/>
        </p:nvSpPr>
        <p:spPr>
          <a:xfrm>
            <a:off x="256032" y="713232"/>
            <a:ext cx="2834640" cy="1828800"/>
          </a:xfrm>
          <a:prstGeom prst="rect">
            <a:avLst/>
          </a:prstGeom>
          <a:solidFill>
            <a:srgbClr val="1F3F1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713232"/>
            <a:ext cx="2834640" cy="457200"/>
          </a:xfrm>
          <a:prstGeom prst="rect">
            <a:avLst/>
          </a:prstGeom>
          <a:solidFill>
            <a:srgbClr val="4A8B4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804672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67512" y="813816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Expanded Dataset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65760" y="1261872"/>
            <a:ext cx="26060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DBF9E"/>
                </a:solidFill>
              </a:rPr>
              <a:t>Collect and label new disease images from field crops across India and globally to improve generalization.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18688" y="713232"/>
            <a:ext cx="2834640" cy="1828800"/>
          </a:xfrm>
          <a:prstGeom prst="rect">
            <a:avLst/>
          </a:prstGeom>
          <a:solidFill>
            <a:srgbClr val="1F3F1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18688" y="713232"/>
            <a:ext cx="2834640" cy="457200"/>
          </a:xfrm>
          <a:prstGeom prst="rect">
            <a:avLst/>
          </a:prstGeom>
          <a:solidFill>
            <a:srgbClr val="4A8B4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0128" y="804672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30168" y="813816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Mobile App Deployment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328416" y="1261872"/>
            <a:ext cx="26060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DBF9E"/>
                </a:solidFill>
              </a:rPr>
              <a:t>Build a lightweight TensorFlow Lite model for Android/iOS app with offline inference capability.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181344" y="713232"/>
            <a:ext cx="2834640" cy="1828800"/>
          </a:xfrm>
          <a:prstGeom prst="rect">
            <a:avLst/>
          </a:prstGeom>
          <a:solidFill>
            <a:srgbClr val="1F3F1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81344" y="713232"/>
            <a:ext cx="2834640" cy="457200"/>
          </a:xfrm>
          <a:prstGeom prst="rect">
            <a:avLst/>
          </a:prstGeom>
          <a:solidFill>
            <a:srgbClr val="4A8B4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2784" y="804672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92824" y="813816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Real-time IoT Integration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291072" y="1261872"/>
            <a:ext cx="26060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DBF9E"/>
                </a:solidFill>
              </a:rPr>
              <a:t>Integrate with IoT camera modules on drones or field sensors for continuous automated monitoring.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256032" y="2724912"/>
            <a:ext cx="2834640" cy="1828800"/>
          </a:xfrm>
          <a:prstGeom prst="rect">
            <a:avLst/>
          </a:prstGeom>
          <a:solidFill>
            <a:srgbClr val="1F3F1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256032" y="2724912"/>
            <a:ext cx="2834640" cy="457200"/>
          </a:xfrm>
          <a:prstGeom prst="rect">
            <a:avLst/>
          </a:prstGeom>
          <a:solidFill>
            <a:srgbClr val="4A8B4A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" y="2816352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67512" y="2825496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Transfer Learning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365760" y="3273552"/>
            <a:ext cx="26060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DBF9E"/>
                </a:solidFill>
              </a:rPr>
              <a:t>Adopt EfficientNet or ResNet-50 as CNN backbone via transfer learning to boost accuracy further.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3218688" y="2724912"/>
            <a:ext cx="2834640" cy="1828800"/>
          </a:xfrm>
          <a:prstGeom prst="rect">
            <a:avLst/>
          </a:prstGeom>
          <a:solidFill>
            <a:srgbClr val="1F3F1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218688" y="2724912"/>
            <a:ext cx="2834640" cy="457200"/>
          </a:xfrm>
          <a:prstGeom prst="rect">
            <a:avLst/>
          </a:prstGeom>
          <a:solidFill>
            <a:srgbClr val="4A8B4A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0128" y="2816352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630168" y="2825496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Yield Prediction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3328416" y="3273552"/>
            <a:ext cx="26060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DBF9E"/>
                </a:solidFill>
              </a:rPr>
              <a:t>Extend system to predict crop yield impact based on detected disease type and estimated severity.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6181344" y="2724912"/>
            <a:ext cx="2834640" cy="1828800"/>
          </a:xfrm>
          <a:prstGeom prst="rect">
            <a:avLst/>
          </a:prstGeom>
          <a:solidFill>
            <a:srgbClr val="1F3F1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181344" y="2724912"/>
            <a:ext cx="2834640" cy="457200"/>
          </a:xfrm>
          <a:prstGeom prst="rect">
            <a:avLst/>
          </a:prstGeom>
          <a:solidFill>
            <a:srgbClr val="4A8B4A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2784" y="2816352"/>
            <a:ext cx="274320" cy="27432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592824" y="2825496"/>
            <a:ext cx="2331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Multi-crop Support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6291072" y="3273552"/>
            <a:ext cx="26060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DBF9E"/>
                </a:solidFill>
              </a:rPr>
              <a:t>Expand beyond PlantVillage to support additional crop varieties with region-specific disease datasets.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"/>
            <a:ext cx="91440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09728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56032" y="822960"/>
            <a:ext cx="8641080" cy="50292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6" name="Text 4"/>
          <p:cNvSpPr/>
          <p:nvPr/>
        </p:nvSpPr>
        <p:spPr>
          <a:xfrm>
            <a:off x="347472" y="905256"/>
            <a:ext cx="84582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[1] Hughes, D. &amp; Salathé, M. (2015). An open access repository of images on plant health to enable the development of mobile disease diagnostics. PlantVillage Dataset.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6032" y="1389888"/>
            <a:ext cx="864108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" y="1472184"/>
            <a:ext cx="84582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[2] Selvaraju, R. R. et al. (2017). Grad-CAM: Visual explanations from deep networks via gradient-based localization. ICCV 2017.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" y="1956816"/>
            <a:ext cx="8641080" cy="50292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" y="2039112"/>
            <a:ext cx="84582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[3] Mohanty, S. P. et al. (2016). Using deep learning for image-based plant disease detection. Frontiers in Plant Science, 7, 1419.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6032" y="2523744"/>
            <a:ext cx="864108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" y="2606040"/>
            <a:ext cx="84582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[4] Chollet, F. (2017). Deep learning with Python. Manning Publications.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6032" y="3090672"/>
            <a:ext cx="8641080" cy="50292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" y="3172968"/>
            <a:ext cx="84582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[5] LeCun, Y., Bengio, Y., &amp; Hinton, G. (2015). Deep learning. Nature, 521(7553), 436–444.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56032" y="3657600"/>
            <a:ext cx="864108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347472" y="3739896"/>
            <a:ext cx="84582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[6] Simonyan, K. &amp; Zisserman, A. (2014). Very deep convolutional networks for large-scale image recognition. ICLR 2015.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6032" y="4224528"/>
            <a:ext cx="8641080" cy="50292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8" name="Text 16"/>
          <p:cNvSpPr/>
          <p:nvPr/>
        </p:nvSpPr>
        <p:spPr>
          <a:xfrm>
            <a:off x="347472" y="4306824"/>
            <a:ext cx="845820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[7] He, K. et al. (2016). Deep residual learning for image recognition. CVPR 2016.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3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5029200"/>
            <a:ext cx="8979408" cy="109728"/>
          </a:xfrm>
          <a:prstGeom prst="rect">
            <a:avLst/>
          </a:prstGeom>
          <a:solidFill>
            <a:srgbClr val="4A8B4A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tretch>
            <a:fillRect/>
          </a:stretch>
        </p:blipFill>
        <p:spPr>
          <a:xfrm>
            <a:off x="5029200" y="457200"/>
            <a:ext cx="3840480" cy="3840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097280"/>
            <a:ext cx="5486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7200" dirty="0"/>
          </a:p>
        </p:txBody>
      </p:sp>
      <p:sp>
        <p:nvSpPr>
          <p:cNvPr id="6" name="Shape 3"/>
          <p:cNvSpPr/>
          <p:nvPr/>
        </p:nvSpPr>
        <p:spPr>
          <a:xfrm>
            <a:off x="457200" y="2423160"/>
            <a:ext cx="5029200" cy="54864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2578608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7BC62"/>
                </a:solidFill>
              </a:rPr>
              <a:t>AgriLens: An Intelligent Plant Disease Detection System Using Deep Learning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3200400"/>
            <a:ext cx="5486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FA88F"/>
                </a:solidFill>
              </a:rPr>
              <a:t>BATCH ID: 23MPCS-B14  |  Dept. of CSE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FA88F"/>
                </a:solidFill>
              </a:rPr>
              <a:t>T. Venkatesh  •  T. Akshaya  •  G. Poorna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8FA88F"/>
                </a:solidFill>
              </a:rPr>
              <a:t>Guide: Mrs. D. Dhana Lakshmi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AgriLens - Intelligent Plant Disease Detection</dc:title>
  <dc:subject>PptxGenJS Presentation</dc:subject>
  <dc:creator>PptxGenJS</dc:creator>
  <cp:lastModifiedBy>PptxGenJS</cp:lastModifiedBy>
  <cp:revision>1</cp:revision>
  <dcterms:created xsi:type="dcterms:W3CDTF">2026-04-02T02:58:26Z</dcterms:created>
  <dcterms:modified xsi:type="dcterms:W3CDTF">2026-04-02T02:58:26Z</dcterms:modified>
</cp:coreProperties>
</file>